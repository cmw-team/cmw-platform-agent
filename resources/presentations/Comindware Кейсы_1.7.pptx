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309" r:id="rId2"/>
    <p:sldId id="322" r:id="rId3"/>
    <p:sldId id="475" r:id="rId4"/>
    <p:sldId id="323" r:id="rId5"/>
    <p:sldId id="476" r:id="rId6"/>
    <p:sldId id="478" r:id="rId7"/>
    <p:sldId id="479" r:id="rId8"/>
    <p:sldId id="502" r:id="rId9"/>
    <p:sldId id="503" r:id="rId10"/>
    <p:sldId id="523" r:id="rId11"/>
    <p:sldId id="524" r:id="rId12"/>
    <p:sldId id="518" r:id="rId13"/>
    <p:sldId id="517" r:id="rId14"/>
    <p:sldId id="310" r:id="rId15"/>
    <p:sldId id="311" r:id="rId16"/>
    <p:sldId id="313" r:id="rId17"/>
    <p:sldId id="314" r:id="rId18"/>
    <p:sldId id="514" r:id="rId19"/>
    <p:sldId id="515" r:id="rId20"/>
    <p:sldId id="527" r:id="rId21"/>
    <p:sldId id="528" r:id="rId22"/>
    <p:sldId id="504" r:id="rId23"/>
    <p:sldId id="505" r:id="rId24"/>
    <p:sldId id="529" r:id="rId25"/>
    <p:sldId id="530" r:id="rId26"/>
    <p:sldId id="539" r:id="rId27"/>
    <p:sldId id="508" r:id="rId28"/>
    <p:sldId id="509" r:id="rId29"/>
    <p:sldId id="520" r:id="rId30"/>
    <p:sldId id="521" r:id="rId31"/>
    <p:sldId id="531" r:id="rId32"/>
    <p:sldId id="532" r:id="rId33"/>
    <p:sldId id="534" r:id="rId34"/>
    <p:sldId id="533" r:id="rId35"/>
    <p:sldId id="535" r:id="rId36"/>
    <p:sldId id="536" r:id="rId37"/>
    <p:sldId id="537" r:id="rId38"/>
    <p:sldId id="538" r:id="rId39"/>
    <p:sldId id="326" r:id="rId40"/>
    <p:sldId id="52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469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2343" userDrawn="1">
          <p15:clr>
            <a:srgbClr val="A4A3A4"/>
          </p15:clr>
        </p15:guide>
        <p15:guide id="6" pos="5110" userDrawn="1">
          <p15:clr>
            <a:srgbClr val="A4A3A4"/>
          </p15:clr>
        </p15:guide>
        <p15:guide id="7" pos="2797" userDrawn="1">
          <p15:clr>
            <a:srgbClr val="A4A3A4"/>
          </p15:clr>
        </p15:guide>
        <p15:guide id="8" pos="4929" userDrawn="1">
          <p15:clr>
            <a:srgbClr val="A4A3A4"/>
          </p15:clr>
        </p15:guide>
        <p15:guide id="9" orient="horz" pos="4110" userDrawn="1">
          <p15:clr>
            <a:srgbClr val="A4A3A4"/>
          </p15:clr>
        </p15:guide>
        <p15:guide id="10" orient="horz" pos="210" userDrawn="1">
          <p15:clr>
            <a:srgbClr val="A4A3A4"/>
          </p15:clr>
        </p15:guide>
        <p15:guide id="13" pos="5292" userDrawn="1">
          <p15:clr>
            <a:srgbClr val="A4A3A4"/>
          </p15:clr>
        </p15:guide>
        <p15:guide id="14" pos="2570" userDrawn="1">
          <p15:clr>
            <a:srgbClr val="A4A3A4"/>
          </p15:clr>
        </p15:guide>
        <p15:guide id="15" orient="horz" pos="1434" userDrawn="1">
          <p15:clr>
            <a:srgbClr val="A4A3A4"/>
          </p15:clr>
        </p15:guide>
        <p15:guide id="16" orient="horz" pos="2886" userDrawn="1">
          <p15:clr>
            <a:srgbClr val="A4A3A4"/>
          </p15:clr>
        </p15:guide>
        <p15:guide id="18" orient="horz" pos="1207" userDrawn="1">
          <p15:clr>
            <a:srgbClr val="A4A3A4"/>
          </p15:clr>
        </p15:guide>
        <p15:guide id="19" orient="horz" pos="1661" userDrawn="1">
          <p15:clr>
            <a:srgbClr val="A4A3A4"/>
          </p15:clr>
        </p15:guide>
        <p15:guide id="20" orient="horz" pos="2659" userDrawn="1">
          <p15:clr>
            <a:srgbClr val="A4A3A4"/>
          </p15:clr>
        </p15:guide>
        <p15:guide id="21" orient="horz" pos="31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lery Samarsky" initials="VS" lastIdx="11" clrIdx="0">
    <p:extLst>
      <p:ext uri="{19B8F6BF-5375-455C-9EA6-DF929625EA0E}">
        <p15:presenceInfo xmlns:p15="http://schemas.microsoft.com/office/powerpoint/2012/main" userId="S-1-5-21-3440071466-1413898663-3586032999-346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9ED6"/>
    <a:srgbClr val="F19335"/>
    <a:srgbClr val="F5F5F5"/>
    <a:srgbClr val="F7C7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/>
    <p:restoredTop sz="88095"/>
  </p:normalViewPr>
  <p:slideViewPr>
    <p:cSldViewPr snapToObjects="1" showGuides="1">
      <p:cViewPr varScale="1">
        <p:scale>
          <a:sx n="107" d="100"/>
          <a:sy n="107" d="100"/>
        </p:scale>
        <p:origin x="1384" y="176"/>
      </p:cViewPr>
      <p:guideLst>
        <p:guide pos="7469"/>
        <p:guide pos="211"/>
        <p:guide pos="2343"/>
        <p:guide pos="5110"/>
        <p:guide pos="2797"/>
        <p:guide pos="4929"/>
        <p:guide orient="horz" pos="4110"/>
        <p:guide orient="horz" pos="210"/>
        <p:guide pos="5292"/>
        <p:guide pos="2570"/>
        <p:guide orient="horz" pos="1434"/>
        <p:guide orient="horz" pos="2886"/>
        <p:guide orient="horz" pos="1207"/>
        <p:guide orient="horz" pos="1661"/>
        <p:guide orient="horz" pos="2659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509C4-A613-5243-8FE4-5EDFF1FC664A}" type="datetimeFigureOut">
              <a:rPr lang="en-US" smtClean="0"/>
              <a:t>7/6/22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AB481-98AA-9347-BA28-96D012ECF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08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69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Скрины</a:t>
            </a:r>
            <a:r>
              <a:rPr lang="ru-RU" dirty="0"/>
              <a:t> больше сделать, чтобы читалось хоть что-нибудь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06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Скрины</a:t>
            </a:r>
            <a:r>
              <a:rPr lang="ru-RU" dirty="0"/>
              <a:t> обновить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6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47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24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15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24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52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22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72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59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18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50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15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66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9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9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73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AB481-98AA-9347-BA28-96D012ECFEC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83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0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0"/>
            <a:ext cx="12192000" cy="908720"/>
            <a:chOff x="0" y="0"/>
            <a:chExt cx="12192000" cy="90872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12192000" cy="90872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9376" y="337221"/>
              <a:ext cx="1584176" cy="234279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 userDrawn="1"/>
          </p:nvCxnSpPr>
          <p:spPr>
            <a:xfrm>
              <a:off x="2423592" y="202332"/>
              <a:ext cx="0" cy="504056"/>
            </a:xfrm>
            <a:prstGeom prst="line">
              <a:avLst/>
            </a:prstGeom>
            <a:ln>
              <a:solidFill>
                <a:srgbClr val="409E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0" y="90872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 userDrawn="1"/>
        </p:nvGrpSpPr>
        <p:grpSpPr>
          <a:xfrm>
            <a:off x="0" y="6533462"/>
            <a:ext cx="12192000" cy="324538"/>
            <a:chOff x="0" y="6533462"/>
            <a:chExt cx="12192000" cy="324538"/>
          </a:xfrm>
        </p:grpSpPr>
        <p:sp>
          <p:nvSpPr>
            <p:cNvPr id="13" name="Rectangle 12"/>
            <p:cNvSpPr/>
            <p:nvPr/>
          </p:nvSpPr>
          <p:spPr>
            <a:xfrm>
              <a:off x="0" y="6533462"/>
              <a:ext cx="12192000" cy="324538"/>
            </a:xfrm>
            <a:prstGeom prst="rect">
              <a:avLst/>
            </a:prstGeom>
            <a:solidFill>
              <a:srgbClr val="616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553202" y="6588009"/>
              <a:ext cx="230383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sk-SK" sz="800" dirty="0">
                  <a:solidFill>
                    <a:schemeClr val="bg1"/>
                  </a:solidFill>
                </a:rPr>
                <a:t>© 2009-2020 </a:t>
              </a:r>
              <a:r>
                <a:rPr lang="sk-SK" sz="800" dirty="0" err="1">
                  <a:solidFill>
                    <a:schemeClr val="bg1"/>
                  </a:solidFill>
                </a:rPr>
                <a:t>Comindware</a:t>
              </a:r>
              <a:r>
                <a:rPr lang="sk-SK" sz="800" baseline="30000" dirty="0">
                  <a:solidFill>
                    <a:schemeClr val="bg1"/>
                  </a:solidFill>
                </a:rPr>
                <a:t>®</a:t>
              </a:r>
              <a:r>
                <a:rPr lang="sk-SK" sz="800" dirty="0">
                  <a:solidFill>
                    <a:schemeClr val="bg1"/>
                  </a:solidFill>
                </a:rPr>
                <a:t> </a:t>
              </a:r>
              <a:r>
                <a:rPr lang="sk-SK" sz="800" dirty="0" err="1">
                  <a:solidFill>
                    <a:schemeClr val="bg1"/>
                  </a:solidFill>
                </a:rPr>
                <a:t>Все</a:t>
              </a:r>
              <a:r>
                <a:rPr lang="sk-SK" sz="800" dirty="0">
                  <a:solidFill>
                    <a:schemeClr val="bg1"/>
                  </a:solidFill>
                </a:rPr>
                <a:t> </a:t>
              </a:r>
              <a:r>
                <a:rPr lang="sk-SK" sz="800" dirty="0" err="1">
                  <a:solidFill>
                    <a:schemeClr val="bg1"/>
                  </a:solidFill>
                </a:rPr>
                <a:t>права</a:t>
              </a:r>
              <a:r>
                <a:rPr lang="sk-SK" sz="800" dirty="0">
                  <a:solidFill>
                    <a:schemeClr val="bg1"/>
                  </a:solidFill>
                </a:rPr>
                <a:t> </a:t>
              </a:r>
              <a:r>
                <a:rPr lang="sk-SK" sz="800" dirty="0" err="1">
                  <a:solidFill>
                    <a:schemeClr val="bg1"/>
                  </a:solidFill>
                </a:rPr>
                <a:t>защищены</a:t>
              </a:r>
              <a:r>
                <a:rPr lang="sk-SK" sz="800" dirty="0">
                  <a:solidFill>
                    <a:schemeClr val="bg1"/>
                  </a:solidFill>
                </a:rPr>
                <a:t>.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4963" y="6588009"/>
              <a:ext cx="316785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800" b="0" i="0" dirty="0">
                  <a:solidFill>
                    <a:schemeClr val="bg1"/>
                  </a:solidFill>
                  <a:ea typeface="Trebuchet MS Regular" charset="0"/>
                  <a:cs typeface="Trebuchet MS Regular" charset="0"/>
                </a:rPr>
                <a:t>www.comindware.com  ·   </a:t>
              </a:r>
              <a:r>
                <a:rPr lang="en-US" sz="800" b="0" i="0" dirty="0" err="1">
                  <a:solidFill>
                    <a:schemeClr val="bg1"/>
                  </a:solidFill>
                  <a:ea typeface="Trebuchet MS Regular" charset="0"/>
                  <a:cs typeface="Trebuchet MS Regular" charset="0"/>
                </a:rPr>
                <a:t>sales@comindware.ru</a:t>
              </a:r>
              <a:r>
                <a:rPr lang="en-US" sz="800" b="0" i="0" dirty="0">
                  <a:solidFill>
                    <a:schemeClr val="bg1"/>
                  </a:solidFill>
                  <a:ea typeface="Trebuchet MS Regular" charset="0"/>
                  <a:cs typeface="Trebuchet MS Regular" charset="0"/>
                </a:rPr>
                <a:t>   ·    </a:t>
              </a:r>
              <a:r>
                <a:rPr lang="is-IS" sz="800" dirty="0">
                  <a:solidFill>
                    <a:schemeClr val="bg1"/>
                  </a:solidFill>
                </a:rPr>
                <a:t>+7 (499) 643-3412</a:t>
              </a:r>
              <a:endParaRPr lang="en-US" sz="800" b="0" i="0" dirty="0">
                <a:solidFill>
                  <a:schemeClr val="bg1"/>
                </a:solidFill>
                <a:ea typeface="Trebuchet MS Regular" charset="0"/>
                <a:cs typeface="Trebuchet MS Regular" charset="0"/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5195754" y="6582544"/>
            <a:ext cx="18004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00" b="0" i="0">
                <a:solidFill>
                  <a:srgbClr val="FFFF00"/>
                </a:solidFill>
                <a:latin typeface="Trebuchet MS Regular" charset="0"/>
                <a:ea typeface="Trebuchet MS Regular" charset="0"/>
                <a:cs typeface="Trebuchet MS Regular" charset="0"/>
              </a:rPr>
              <a:t>К О Н Ф И Д Е Н Ц И А Л Ь Н О</a:t>
            </a:r>
            <a:endParaRPr lang="en-US" sz="900" b="0" i="0" dirty="0">
              <a:solidFill>
                <a:srgbClr val="FFFF00"/>
              </a:solidFill>
              <a:latin typeface="Trebuchet MS Regular" charset="0"/>
              <a:ea typeface="Trebuchet MS Regular" charset="0"/>
              <a:cs typeface="Trebuchet MS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28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62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8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4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4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6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05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85FEEB-ECD2-4745-8209-87A155FBB6CB}" type="datetimeFigureOut">
              <a:rPr lang="en-US" smtClean="0"/>
              <a:t>7/6/22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0CEF60-806A-9846-844B-629C45A86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3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68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2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hyperlink" Target="mailto:Valery.Samarsky@comindwar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850682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12124" y="0"/>
            <a:ext cx="4079875" cy="6858000"/>
          </a:xfrm>
          <a:prstGeom prst="rect">
            <a:avLst/>
          </a:prstGeom>
          <a:solidFill>
            <a:srgbClr val="409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19335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01050" y="2636838"/>
            <a:ext cx="3455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rgbClr val="F5F5F5"/>
                </a:solidFill>
                <a:ea typeface="PT Sans Regular" charset="-52"/>
                <a:cs typeface="PT Sans Regular" charset="-52"/>
              </a:rPr>
              <a:t>КЛИЕНТСКИЕ РЕШЕНИЯ </a:t>
            </a:r>
            <a:r>
              <a:rPr lang="ru-RU" sz="3600" b="1" dirty="0" err="1">
                <a:solidFill>
                  <a:srgbClr val="F5F5F5"/>
                </a:solidFill>
                <a:ea typeface="PT Sans Regular" charset="-52"/>
                <a:cs typeface="PT Sans Regular" charset="-52"/>
              </a:rPr>
              <a:t>COMINDWARE</a:t>
            </a:r>
            <a:endParaRPr lang="en-US" sz="3600" b="1" dirty="0">
              <a:solidFill>
                <a:srgbClr val="F5F5F5"/>
              </a:solidFill>
              <a:ea typeface="PT Sans Regular" charset="-52"/>
              <a:cs typeface="PT Sans Regular" charset="-5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2488" y="334800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5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7DF86E-EFD1-35DE-78E6-26F631830E71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1067" y="5324296"/>
            <a:ext cx="7425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ОТКРЫТИЕ НОВЫХ</a:t>
            </a: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ТОЧЕК ПРОДАЖ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1050" y="3231905"/>
            <a:ext cx="34559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Неприемлемо длительный процесс открытия новой точки продажи алкогольной продукции (средний срок от 4-х месяцев)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эффективность совместной работы структурных подразделений компании в рамках процессов открытия (используются </a:t>
            </a:r>
            <a:r>
              <a:rPr lang="en-US" sz="1400" dirty="0">
                <a:ea typeface="PT Sans Regular" charset="-52"/>
                <a:cs typeface="PT Sans Regular" charset="-52"/>
              </a:rPr>
              <a:t>Excel</a:t>
            </a:r>
            <a:r>
              <a:rPr lang="ru-RU" sz="1400" dirty="0">
                <a:ea typeface="PT Sans Regular" charset="-52"/>
                <a:cs typeface="PT Sans Regular" charset="-52"/>
              </a:rPr>
              <a:t>-файлы электронная почта + мессенджеры для согласований возникающих вопросов и задач)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Отсутствие контроля всего процесса, прогнозирования сроков, планирования материалов и ресурсов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01050" y="2636838"/>
            <a:ext cx="164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92157" y="861239"/>
            <a:ext cx="19805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1999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10 500 сотрудников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6 заводов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sp>
        <p:nvSpPr>
          <p:cNvPr id="19" name="Rectangle 12">
            <a:extLst>
              <a:ext uri="{FF2B5EF4-FFF2-40B4-BE49-F238E27FC236}">
                <a16:creationId xmlns:a16="http://schemas.microsoft.com/office/drawing/2014/main" id="{D5665757-AE25-55B6-4B50-522F4FE43DF7}"/>
              </a:ext>
            </a:extLst>
          </p:cNvPr>
          <p:cNvSpPr/>
          <p:nvPr/>
        </p:nvSpPr>
        <p:spPr>
          <a:xfrm>
            <a:off x="8472488" y="831430"/>
            <a:ext cx="1439936" cy="830997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Крупная </a:t>
            </a:r>
          </a:p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Розничная </a:t>
            </a:r>
          </a:p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Сеть алкогольной продукции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ea typeface="PT Sans Regular" charset="-52"/>
              <a:cs typeface="PT Sans Regular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79517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824788" cy="6858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440237" y="333375"/>
            <a:ext cx="33115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PT Sans Regular" charset="-52"/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latin typeface="PT Sans Regular" charset="-52"/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40236" y="918731"/>
            <a:ext cx="345596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Цифровизован сквозной бизнес-процесс от идеи до открытия точки продаж, с участием сотрудников 12-ти функциональных подразделений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Прохождение процесса с учетом различной бизнес-логики, в зависимости от территориальной принадлежности торговой точки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Автоматическое построение плана открытия магазинов по входным данным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Отчёты по статусам подготовки магазинов, просроченным задачам и другим показателям эффективности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Единая карточка торговой точки, в которой накапливается информация обо всех этапах процесса открытия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Все задачи, от согласования локации и заключения договора аренды, и до подбора персонала в едином решении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Процедуры контроля работы открытой точки и закрытия нерентабельных торговых течек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0237" y="333375"/>
            <a:ext cx="3671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latin typeface="PT Sans Regular" charset="-52"/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02B1E2-EC61-CE14-D1EC-ACF3C2EBB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79816" y="4581524"/>
            <a:ext cx="4859691" cy="22764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67FE8F-6422-909C-5D6B-4C1D2B1C1A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5507" y="0"/>
            <a:ext cx="4555382" cy="212917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023AC3-33DA-BED8-4DF6-36D3A9A654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77130" y="2114453"/>
            <a:ext cx="5257005" cy="2454548"/>
          </a:xfrm>
          <a:prstGeom prst="rect">
            <a:avLst/>
          </a:prstGeom>
        </p:spPr>
      </p:pic>
      <p:sp>
        <p:nvSpPr>
          <p:cNvPr id="23" name="Rectangle 18">
            <a:extLst>
              <a:ext uri="{FF2B5EF4-FFF2-40B4-BE49-F238E27FC236}">
                <a16:creationId xmlns:a16="http://schemas.microsoft.com/office/drawing/2014/main" id="{6F27BABC-A214-C7E4-8026-7F9EA38E841E}"/>
              </a:ext>
            </a:extLst>
          </p:cNvPr>
          <p:cNvSpPr/>
          <p:nvPr/>
        </p:nvSpPr>
        <p:spPr>
          <a:xfrm>
            <a:off x="8401050" y="918731"/>
            <a:ext cx="345028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Запуск новой точки продаж ускорился на 40%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+700 новых магазинов за 2 года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Обеспечен полный контроль над процессом и прозрачность его выполнения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Заказчик получил возможность оптимизации процесса целиком вместо</a:t>
            </a:r>
            <a:r>
              <a:rPr lang="en-US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>
                <a:ea typeface="PT Sans Regular" charset="-52"/>
                <a:cs typeface="PT Sans Regular" charset="-52"/>
              </a:rPr>
              <a:t>“латания дыр” в отдельных его частях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Обеспечено быстрое внедрение изменений в существующий процесс с учетом изменений внешней среды и запросов бизнеса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Существенно увеличена скорость обмена и поиска информации между сотрудниками в процессе согласования документов и принятии решений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922796CE-A3B5-6886-FAE4-415933F10D28}"/>
              </a:ext>
            </a:extLst>
          </p:cNvPr>
          <p:cNvSpPr/>
          <p:nvPr/>
        </p:nvSpPr>
        <p:spPr>
          <a:xfrm>
            <a:off x="8401050" y="333375"/>
            <a:ext cx="33788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05220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EF62FC-3CB1-1395-6D30-5E2DE2C6400A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401051" y="3223760"/>
            <a:ext cx="3455988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Вносить изменения в существующую ИТ-систему дорого и долго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Интерфейс существующей системы неудобен, много лишних функций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Зависимость от зарубежного поставщика, требования импортозамещения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1050" y="2636838"/>
            <a:ext cx="346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8228" y="883825"/>
            <a:ext cx="34176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 в 1993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134 000 сотрудников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11% нефтедобычи в России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4963" y="4941168"/>
            <a:ext cx="53641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КЕЙС</a:t>
            </a: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КРУПНАЯ НЕФТЯНАЯ КОМПАНИЯ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BB4A5D-A5C5-0276-10A5-AF566DE82E29}"/>
              </a:ext>
            </a:extLst>
          </p:cNvPr>
          <p:cNvSpPr/>
          <p:nvPr/>
        </p:nvSpPr>
        <p:spPr>
          <a:xfrm>
            <a:off x="8472488" y="831430"/>
            <a:ext cx="1439936" cy="64633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Крупная </a:t>
            </a:r>
          </a:p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Нефтяная Компания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ea typeface="PT Sans Regular" charset="-52"/>
              <a:cs typeface="PT Sans Regular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9574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D3731B8-F8C9-CDCA-54F4-8E04E7AF7C85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112125" y="0"/>
            <a:ext cx="4080197" cy="458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440237" y="915775"/>
            <a:ext cx="3384551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CRM на базе Comindware для создания и обработки заявок на отгрузку, а также формирования отгрузочной разнарядки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Специфические отчёты по отгрузке нефтепродуктов в формате</a:t>
            </a:r>
            <a:r>
              <a:rPr lang="en-US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>
                <a:ea typeface="PT Sans Regular" charset="-52"/>
                <a:cs typeface="PT Sans Regular" charset="-52"/>
              </a:rPr>
              <a:t>Word, Excel, PDF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Бесшовная интеграция платформы с существующей ERP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Передача управления бизнес-процессами в руки бизнес-аналитиков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Настраиваемые интерфейсы для внешних и внутренних пользователей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Расширенные возможности для работы с корзиной продуктов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endParaRPr lang="ru-RU" sz="1400" dirty="0">
              <a:latin typeface="PT Sans Regular" charset="-52"/>
              <a:ea typeface="PT Sans Regular" charset="-52"/>
              <a:cs typeface="PT Sans Regular" charset="-5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40236" y="333375"/>
            <a:ext cx="3151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9462" y="914016"/>
            <a:ext cx="34518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Проект CRM на базе  Comindware подтвердил преимущества использования Low-code BPMS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Максимально упрощён процесс реализации новых ИТ-решений под нужды Заказчика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Поэтапно реализуются ИТ-решения на базе BPMS для других сфер бизнеса Заказчика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Управление CRM-системой и бизнес-процессами в руках бизнес-аналитиков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99462" y="333375"/>
            <a:ext cx="34518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0762"/>
            <a:ext cx="4079875" cy="22949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81525"/>
            <a:ext cx="4083332" cy="229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4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7" r="10104"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A8F9CB9-CCF0-7076-58F7-0EDD914934D5}"/>
              </a:ext>
            </a:extLst>
          </p:cNvPr>
          <p:cNvSpPr/>
          <p:nvPr/>
        </p:nvSpPr>
        <p:spPr>
          <a:xfrm>
            <a:off x="0" y="0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401050" y="3222194"/>
            <a:ext cx="3455988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скорость обработки типовых запросов в HR (выдача справки, запись на обучение, заказ пропуска и т.д.)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Затянутые процессы приёма на работу и увольнения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Запросы разбросаны по почте, чатам, телефонам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1050" y="2636838"/>
            <a:ext cx="346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9030" y="992951"/>
            <a:ext cx="3417620" cy="375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1992 году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1 777 сотрудников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800" y="5324296"/>
            <a:ext cx="626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ЦИФРОВОЙ</a:t>
            </a:r>
            <a:r>
              <a:rPr lang="en-US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 </a:t>
            </a: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HR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367A03-09A7-4237-BA8D-6A8798BE82F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2357" y="692696"/>
            <a:ext cx="1868099" cy="9589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9F2171-DFE1-2682-5820-2809400249F0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01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B052796-8321-0BC8-94A7-22F40E47BA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7" r="10104"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6472CFD-A8F2-7742-51F5-7F712D3E8D07}"/>
              </a:ext>
            </a:extLst>
          </p:cNvPr>
          <p:cNvSpPr/>
          <p:nvPr/>
        </p:nvSpPr>
        <p:spPr>
          <a:xfrm>
            <a:off x="0" y="0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112125" y="0"/>
            <a:ext cx="4080197" cy="4581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440238" y="944136"/>
            <a:ext cx="309562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ru-RU" sz="1400" dirty="0">
                <a:ea typeface="PT Sans Regular" charset="-52"/>
                <a:cs typeface="PT Sans Regular" charset="-52"/>
              </a:rPr>
              <a:t>Единая HR-система для синергии возможностей: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Чат-боты как основной интерфейс для запросов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RPA и машинное обучение для быстрой обработки данных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Comindware как фундамент для объединения систем</a:t>
            </a:r>
          </a:p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ru-RU" sz="1400" dirty="0">
                <a:ea typeface="PT Sans Regular" charset="-52"/>
                <a:cs typeface="PT Sans Regular" charset="-52"/>
              </a:rPr>
              <a:t>Основные возможности: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Формирование и согласование запроса на командировку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Оформление командировки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Подбор и заказ билетов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Подбор и заказ гостиниц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Уведомления о командировке, в том числе в телеграмм боте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Подача и согласование отчета о командировке.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0238" y="333375"/>
            <a:ext cx="3151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1050" y="944136"/>
            <a:ext cx="345028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BPMS-платформа обеспечила автоматизацию основных HR-процессов и позволила централизовано управлять работой чат-ботов, RPA и сотрудников HR отдела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Cкорость обработки типовых запросов в HR увеличена в 10 раз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1050" y="333375"/>
            <a:ext cx="3450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A66B3B-7419-4ADF-B866-5A19C37063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244604" y="1422438"/>
            <a:ext cx="5983487" cy="3912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D1E89CB-9D8D-4D8C-B333-1BA3DF62A7E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7959" y="3389628"/>
            <a:ext cx="1860584" cy="31412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EC74C2-5CFA-47F1-A826-C2B365A6DB3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667" y="3400611"/>
            <a:ext cx="1860584" cy="314120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0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3" t="19665" r="7157" b="1113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53E3940-D393-2C26-FC64-773C10DB6A25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48557" y="5322871"/>
            <a:ext cx="7057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УПРАВЛЕНИЕ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ПОРТФЕЛЕМ ПРОЕКТОВ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1050" y="3223760"/>
            <a:ext cx="349903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Проекты управляются в громоздкой и перегруженной функциональностью системе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Проектный офис тратит время на «борьбу» с системой, а не на работу в рамках проектов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Вносить изменения в систему и новые возможности долго и дорого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1050" y="2636838"/>
            <a:ext cx="346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29044" y="881908"/>
            <a:ext cx="34176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 в 1993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134 000 сотрудников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11% нефтедобычи в России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E0A2E9-4073-3201-783D-641FD71C5F28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2">
            <a:extLst>
              <a:ext uri="{FF2B5EF4-FFF2-40B4-BE49-F238E27FC236}">
                <a16:creationId xmlns:a16="http://schemas.microsoft.com/office/drawing/2014/main" id="{6114A945-15B3-D700-A521-D54D40D1C17E}"/>
              </a:ext>
            </a:extLst>
          </p:cNvPr>
          <p:cNvSpPr/>
          <p:nvPr/>
        </p:nvSpPr>
        <p:spPr>
          <a:xfrm>
            <a:off x="8472488" y="831430"/>
            <a:ext cx="1439936" cy="64633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Крупная </a:t>
            </a:r>
          </a:p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Нефтяная Компания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ea typeface="PT Sans Regular" charset="-52"/>
              <a:cs typeface="PT Sans Regular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2639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3" t="19665" r="7157" b="1113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EB7865A-E279-9779-F472-9F693450D33B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440236" y="333375"/>
            <a:ext cx="3151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99461" y="333375"/>
            <a:ext cx="3451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440238" y="918731"/>
            <a:ext cx="338455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«Проектный робот» - ИТ-решение, управляющее проектами вместо человека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Набор бизнес-процессов, составляющих замкнутый цикл управления отдельными проектами от инициации до закрытия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Управление портфелем проектов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1050" y="918731"/>
            <a:ext cx="34365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Ощутимо увеличена скорость принятия взвешенных решений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Обеспечена возможность «на лету» менять приоритеты и состав работ по проектам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92631" y="1950062"/>
            <a:ext cx="4872506" cy="2355390"/>
          </a:xfrm>
          <a:prstGeom prst="rect">
            <a:avLst/>
          </a:prstGeom>
          <a:effectLst/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25914" y="4293160"/>
            <a:ext cx="5305789" cy="25648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3228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7" t="9272" r="5283" b="24559"/>
          <a:stretch/>
        </p:blipFill>
        <p:spPr>
          <a:xfrm>
            <a:off x="1" y="0"/>
            <a:ext cx="8472488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758478B-35FA-A0BA-B6E7-BB7C27C5D3B3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401050" y="3223760"/>
            <a:ext cx="349903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Ручной круглосуточный сбор и анализ запросов из различных источников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скорость обработки типовых хозяйствнных запросов (ремонт помещения, аренда комнаты, и т.д.) 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Сбои выполнения графика планово-предупредительного ремонта оборудования 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1050" y="2636838"/>
            <a:ext cx="346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84432" y="861239"/>
            <a:ext cx="34176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 в 1993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134 000 сотрудников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11% нефтедобычи в России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4963" y="5327568"/>
            <a:ext cx="7057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ХОЗЯЙСТВЕННЫЕ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ЗАЯВКИ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2F1B35-B0F6-BA1D-A0E1-175691BF5C82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2">
            <a:extLst>
              <a:ext uri="{FF2B5EF4-FFF2-40B4-BE49-F238E27FC236}">
                <a16:creationId xmlns:a16="http://schemas.microsoft.com/office/drawing/2014/main" id="{BA1640B4-0E4A-4AC5-6DE5-E02689B7AEF5}"/>
              </a:ext>
            </a:extLst>
          </p:cNvPr>
          <p:cNvSpPr/>
          <p:nvPr/>
        </p:nvSpPr>
        <p:spPr>
          <a:xfrm>
            <a:off x="8445913" y="876360"/>
            <a:ext cx="1439936" cy="646331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Крупная </a:t>
            </a:r>
          </a:p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Нефтяная Компания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ea typeface="PT Sans Regular" charset="-52"/>
              <a:cs typeface="PT Sans Regular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01364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7" t="9272" r="9970" b="24559"/>
          <a:stretch/>
        </p:blipFill>
        <p:spPr>
          <a:xfrm>
            <a:off x="1" y="0"/>
            <a:ext cx="7824788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24E748C-0011-1FC4-4928-BA52D1C92DA8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440236" y="333375"/>
            <a:ext cx="3151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PT Sans Regular" charset="-52"/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latin typeface="PT Sans Regular" charset="-52"/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99461" y="333375"/>
            <a:ext cx="3451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latin typeface="PT Sans Regular" charset="-52"/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latin typeface="PT Sans Regular" charset="-52"/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440238" y="918731"/>
            <a:ext cx="3384551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latin typeface="PT Sans Regular" charset="-52"/>
                <a:ea typeface="PT Sans Regular" charset="-52"/>
                <a:cs typeface="PT Sans Regular" charset="-52"/>
              </a:rPr>
              <a:t>Автоматизированы ключевые административно-хозяйственных сервисы: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latin typeface="PT Sans Regular" charset="-52"/>
                <a:ea typeface="PT Sans Regular" charset="-52"/>
                <a:cs typeface="PT Sans Regular" charset="-52"/>
              </a:rPr>
              <a:t>Хозяйственное обслуживание зданий 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latin typeface="PT Sans Regular" charset="-52"/>
                <a:ea typeface="PT Sans Regular" charset="-52"/>
                <a:cs typeface="PT Sans Regular" charset="-52"/>
              </a:rPr>
              <a:t>Управление эксплуатацией зданий и сооружений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latin typeface="PT Sans Regular" charset="-52"/>
                <a:ea typeface="PT Sans Regular" charset="-52"/>
                <a:cs typeface="PT Sans Regular" charset="-52"/>
              </a:rPr>
              <a:t>Техническое обслуживание и ремонт оборудования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latin typeface="PT Sans Regular" charset="-52"/>
                <a:ea typeface="PT Sans Regular" charset="-52"/>
                <a:cs typeface="PT Sans Regular" charset="-52"/>
              </a:rPr>
              <a:t>АХО-система для контроля исполнения заявок, онлайн мониторинга всех событий процесса выполнения заявки.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1050" y="918731"/>
            <a:ext cx="34365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latin typeface="PT Sans Regular" charset="-52"/>
                <a:ea typeface="PT Sans Regular" charset="-52"/>
                <a:cs typeface="PT Sans Regular" charset="-52"/>
              </a:rPr>
              <a:t>Среднее время выполнения заявок сократилось в 4 раза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828B8C-65CD-7C4B-A85F-58F686213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247" y="1180341"/>
            <a:ext cx="4114800" cy="2527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7057BB-B575-4734-9D40-497952795C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7146" y="3305236"/>
            <a:ext cx="4177021" cy="35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54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2488577-0BD0-0EB0-751A-6A3DB254F77E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36183" y="5324296"/>
            <a:ext cx="7057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ПРОЕКТ</a:t>
            </a: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«ЦИФРОВОЙ ФИЗТЕХ» </a:t>
            </a:r>
          </a:p>
        </p:txBody>
      </p:sp>
      <p:pic>
        <p:nvPicPr>
          <p:cNvPr id="12" name="Picture 2" descr="Московский физико-технический институт — Википедия">
            <a:extLst>
              <a:ext uri="{FF2B5EF4-FFF2-40B4-BE49-F238E27FC236}">
                <a16:creationId xmlns:a16="http://schemas.microsoft.com/office/drawing/2014/main" id="{A9C122CF-4D33-47CE-A3A2-82BA2D7D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56241" y="552904"/>
            <a:ext cx="1443432" cy="97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9843789" y="764703"/>
            <a:ext cx="206355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 в 1951 году</a:t>
            </a: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6 800 студентов</a:t>
            </a: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Топ-3 лучших университетов РФ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1050" y="3223760"/>
            <a:ext cx="3499035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Запуск масштабного проекта Цифровой трансформации МФТИ </a:t>
            </a:r>
            <a:r>
              <a:rPr lang="en-US" sz="1400" dirty="0">
                <a:ea typeface="PT Sans Regular" charset="-52"/>
                <a:cs typeface="PT Sans Regular" charset="-52"/>
              </a:rPr>
              <a:t>—</a:t>
            </a:r>
            <a:r>
              <a:rPr lang="ru-RU" sz="1400" dirty="0">
                <a:ea typeface="PT Sans Regular" charset="-52"/>
                <a:cs typeface="PT Sans Regular" charset="-52"/>
              </a:rPr>
              <a:t> создание цифровых сервисов для административно-управленческих процессов.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Проведение пилотного проекта для оценки возможностей выбранной платформы </a:t>
            </a:r>
          </a:p>
          <a:p>
            <a:pPr marL="285750" indent="-285750" fontAlgn="base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Создание штатной команды аналитиков за счет передачи опыта между проектными командами в рамках реализации пилотного проекта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1050" y="2636838"/>
            <a:ext cx="346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Постановка задачи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F64D7C-D949-7D49-C1FC-7F25DE6EAF66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2EB3686-DE46-7139-73BC-539A987813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83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8">
            <a:extLst>
              <a:ext uri="{FF2B5EF4-FFF2-40B4-BE49-F238E27FC236}">
                <a16:creationId xmlns:a16="http://schemas.microsoft.com/office/drawing/2014/main" id="{C912F751-CAAD-4886-937F-39E98643DC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262"/>
          <a:stretch/>
        </p:blipFill>
        <p:spPr>
          <a:xfrm>
            <a:off x="-530912" y="4554538"/>
            <a:ext cx="4682696" cy="2303462"/>
          </a:xfrm>
          <a:prstGeom prst="rect">
            <a:avLst/>
          </a:prstGeom>
          <a:effectLst/>
        </p:spPr>
      </p:pic>
      <p:pic>
        <p:nvPicPr>
          <p:cNvPr id="12" name="Рисунок 4">
            <a:extLst>
              <a:ext uri="{FF2B5EF4-FFF2-40B4-BE49-F238E27FC236}">
                <a16:creationId xmlns:a16="http://schemas.microsoft.com/office/drawing/2014/main" id="{B2E4DD53-A79E-4D74-8091-240811F99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52"/>
          <a:stretch/>
        </p:blipFill>
        <p:spPr>
          <a:xfrm>
            <a:off x="-411694" y="0"/>
            <a:ext cx="4634914" cy="2276475"/>
          </a:xfrm>
          <a:prstGeom prst="rect">
            <a:avLst/>
          </a:prstGeom>
          <a:effectLst/>
        </p:spPr>
      </p:pic>
      <p:pic>
        <p:nvPicPr>
          <p:cNvPr id="13" name="Рисунок 18">
            <a:extLst>
              <a:ext uri="{FF2B5EF4-FFF2-40B4-BE49-F238E27FC236}">
                <a16:creationId xmlns:a16="http://schemas.microsoft.com/office/drawing/2014/main" id="{C912F751-CAAD-4886-937F-39E98643DC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262"/>
          <a:stretch/>
        </p:blipFill>
        <p:spPr>
          <a:xfrm>
            <a:off x="-530912" y="2278064"/>
            <a:ext cx="4682696" cy="2303462"/>
          </a:xfrm>
          <a:prstGeom prst="rect">
            <a:avLst/>
          </a:prstGeom>
          <a:effectLst/>
        </p:spPr>
      </p:pic>
      <p:sp>
        <p:nvSpPr>
          <p:cNvPr id="15" name="Rectangle 14"/>
          <p:cNvSpPr/>
          <p:nvPr/>
        </p:nvSpPr>
        <p:spPr>
          <a:xfrm>
            <a:off x="4079876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440238" y="333375"/>
            <a:ext cx="3151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0238" y="917928"/>
            <a:ext cx="3384551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 рамках пилотного проекта цифровизован сквозной процесс от инициирования приема кандидата в подразделении до выпуска приказа и внесения информации в ИТ-системы: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Удобное представление информации участникам процесса, быстрая передача задач от исполнителя к исполнителю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Прохождение этапов процесса в удаленном режиме без  физического контакта в т. ч. с мобильных устройств 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Снижение количества бумажных документов до минимума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Возможность мониторинга, контроля и корректировки процесса по каждому из его этапов/участников 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Личный кабинет нанимаемого сотрудника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Формирование единого информационного профиля сотрудника (сотрудник 360)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1050" y="923511"/>
            <a:ext cx="34365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«Боевая» продуктивная эксплуатация решения по приему сотрудников в мае 2021, сбор обратной связи, совершенствование силами Заказчика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Реализованы прототипы процессов получения путевки в санаторий и патентования сотрудниками МФТИ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Ведется проработка проекта по реализации СЭД для Департамента Управления Информационными Технологиями МФТИ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Планируется вовлечение в работу с платформой Comindware как сотрудников, так и студентов и аспирантов университета</a:t>
            </a: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9A1DBF3E-944F-6F48-1512-35A522FED12F}"/>
              </a:ext>
            </a:extLst>
          </p:cNvPr>
          <p:cNvSpPr/>
          <p:nvPr/>
        </p:nvSpPr>
        <p:spPr>
          <a:xfrm>
            <a:off x="8399461" y="333375"/>
            <a:ext cx="3451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474004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9759C5E-EE34-C6F3-5CB1-69D6384E9156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112125" y="-1"/>
            <a:ext cx="40798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3" y="5327568"/>
            <a:ext cx="748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bg-BG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УПРАВЛЕНИЕ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bg-BG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ПРЕТЕНЗИЯМИ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409300" y="3228153"/>
            <a:ext cx="343946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Необходимость гибкой и быстро настраиваемой системы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Соответствие требованиям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импортозамещения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01050" y="2636838"/>
            <a:ext cx="34080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Проблема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66234" y="852578"/>
            <a:ext cx="23046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2014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Более 52 млн. банковских </a:t>
            </a: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17,5% рос. рынка платёжных систем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4901" y="943251"/>
            <a:ext cx="1007318" cy="3589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7FB3E1-2238-EECB-EA97-C11560F9EC9B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065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4023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606E9DE-219F-C8F5-115B-C166B2805763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4440236" y="922960"/>
            <a:ext cx="3384551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Прием заявки и заведение дела (кейс)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Проведение рассмотрений (бизнес-процесс)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 err="1">
                <a:ea typeface="PT Sans Regular" charset="-52"/>
                <a:cs typeface="PT Sans Regular" charset="-52"/>
              </a:rPr>
              <a:t>Проактивный</a:t>
            </a:r>
            <a:r>
              <a:rPr lang="ru-RU" sz="1400" dirty="0">
                <a:ea typeface="PT Sans Regular" charset="-52"/>
                <a:cs typeface="PT Sans Regular" charset="-52"/>
              </a:rPr>
              <a:t> контроль за временем рассмотрения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Полный аудит-лог всех действий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Внешние и внутренние порталы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Настраиваемая система управления процессами обработки дел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Среда социального взаимодействия сотрудников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237" y="333375"/>
            <a:ext cx="34660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01050" y="346594"/>
            <a:ext cx="34761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1050" y="944067"/>
            <a:ext cx="345598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Время рассмотрения претензий сокращено в 3 раза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Процесс рассмотрения прозрачен и контролируем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 err="1">
                <a:ea typeface="PT Sans Regular" charset="-52"/>
                <a:cs typeface="PT Sans Regular" charset="-52"/>
              </a:rPr>
              <a:t>Репутационные</a:t>
            </a:r>
            <a:r>
              <a:rPr lang="ru-RU" sz="1400" dirty="0">
                <a:ea typeface="PT Sans Regular" charset="-52"/>
                <a:cs typeface="PT Sans Regular" charset="-52"/>
              </a:rPr>
              <a:t> риски компании минимизированы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922" y="1276349"/>
            <a:ext cx="4181475" cy="2447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30647" y="3724275"/>
            <a:ext cx="5410200" cy="3133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AC735F-49BC-6BAA-9040-15D5F7351E6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3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5EA76B2-18FE-1705-FDE4-40B0452E4483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45469" y="5324296"/>
            <a:ext cx="748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rgbClr val="F5F5F5"/>
                </a:solidFill>
                <a:ea typeface="PT Sans Regular" charset="-52"/>
                <a:cs typeface="PT Sans Regular" charset="-52"/>
              </a:rPr>
              <a:t>CRM</a:t>
            </a:r>
            <a:endParaRPr lang="en-US" sz="3600" b="1" dirty="0">
              <a:solidFill>
                <a:srgbClr val="F5F5F5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rgbClr val="F5F5F5"/>
                </a:solidFill>
                <a:ea typeface="PT Sans Regular" charset="-52"/>
                <a:cs typeface="PT Sans Regular" charset="-52"/>
              </a:rPr>
              <a:t>ДЛЯ УЧЕБНОГО ЦЕНТРА</a:t>
            </a:r>
            <a:endParaRPr lang="en-US" sz="3600" b="1" dirty="0">
              <a:solidFill>
                <a:srgbClr val="F5F5F5"/>
              </a:solidFill>
              <a:ea typeface="PT Sans Regular" charset="-52"/>
              <a:cs typeface="PT Sans Regular" charset="-5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01050" y="3224076"/>
            <a:ext cx="345598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загрузка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авиатренажёров</a:t>
            </a:r>
            <a:r>
              <a:rPr lang="ru-RU" sz="1400" dirty="0">
                <a:ea typeface="PT Sans Regular" charset="-52"/>
                <a:cs typeface="PT Sans Regular" charset="-52"/>
              </a:rPr>
              <a:t> из-за медленной обработки изменений в расписаниях и запросах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Данные обучаемого пилота, компании-клиента,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авиатренажёра</a:t>
            </a:r>
            <a:r>
              <a:rPr lang="ru-RU" sz="1400" dirty="0">
                <a:ea typeface="PT Sans Regular" charset="-52"/>
                <a:cs typeface="PT Sans Regular" charset="-52"/>
              </a:rPr>
              <a:t> трудно объединить в единой системе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Продаваемая услуга состоит из нескольких, каждая из которых выполняется отдельной группой сотрудников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01050" y="263872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19344" y="857356"/>
            <a:ext cx="2207222" cy="516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19</a:t>
            </a:r>
            <a:r>
              <a:rPr lang="en-US" sz="1000" dirty="0">
                <a:ea typeface="PT Sans Regular" charset="-52"/>
                <a:cs typeface="PT Sans Regular" charset="-52"/>
              </a:rPr>
              <a:t>57</a:t>
            </a:r>
            <a:r>
              <a:rPr lang="ru-RU" sz="1000" dirty="0">
                <a:ea typeface="PT Sans Regular" charset="-52"/>
                <a:cs typeface="PT Sans Regular" charset="-52"/>
              </a:rPr>
              <a:t>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2 878 сотрудников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свыше 18 млн. пассажиров за 2018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3074" name="Picture 2" descr="https://lh4.googleusercontent.com/SBSWtsdHDhh4uhKM49zX4WTgUf0g9m1U9P7y6lo7c2S3-mz-_xtbnNIbR1wbNy5T-wR6BUDl1eN0YXpmvkS-N23PvXHT0NxZRX3A9ig6l37WVw0F4byq1-TGR7pMKoaeR1kM2dc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01249" y="611479"/>
            <a:ext cx="1008112" cy="100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63563D-77A2-C8D8-705A-1E3310D78154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E66165E-0935-F97A-8982-7551B58B0B3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53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40238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A89331C-C9DE-83CD-B54B-F3F22C9342D5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440238" y="333375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237" y="908720"/>
            <a:ext cx="33845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ru-RU" sz="1400" dirty="0">
                <a:ea typeface="PT Sans Regular" charset="-52"/>
                <a:cs typeface="PT Sans Regular" charset="-52"/>
              </a:rPr>
              <a:t>CRM-система для управления услугами образовательного центра</a:t>
            </a:r>
            <a:r>
              <a:rPr lang="en-US" sz="1400" dirty="0">
                <a:ea typeface="PT Sans Regular" charset="-52"/>
                <a:cs typeface="PT Sans Regular" charset="-52"/>
              </a:rPr>
              <a:t>: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Интерактивный портал для клиентов и сотрудников компании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Выстроенный процесс продажи: от запроса до выдачи сертификата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Управление загрузкой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авиатренажёров</a:t>
            </a:r>
            <a:endParaRPr lang="ru-RU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Система управления дополнительными услугами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908720"/>
            <a:ext cx="345598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Заказчик получил контроль над процессом целиком, радикально увеличил эффективность работы и за счёт этого увеличил прибыль на 10-15%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Заказчик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цифровизует</a:t>
            </a:r>
            <a:r>
              <a:rPr lang="ru-RU" sz="1400" dirty="0">
                <a:ea typeface="PT Sans Regular" charset="-52"/>
                <a:cs typeface="PT Sans Regular" charset="-52"/>
              </a:rPr>
              <a:t> процессы управления закупками, АХО,  планирует создание платформы дополнительных услуг для обучающихся пилотов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58850" y="1052736"/>
            <a:ext cx="5038725" cy="3267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3550" y="3762375"/>
            <a:ext cx="45434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34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7FA24B2-E19B-15A0-B4F7-64BCD084D019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3" y="4770299"/>
            <a:ext cx="7489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rgbClr val="F5F5F5"/>
                </a:solidFill>
                <a:ea typeface="PT Sans Regular" charset="-52"/>
                <a:cs typeface="PT Sans Regular" charset="-52"/>
              </a:rPr>
              <a:t>ЦИФРОВЫЕ СЕРВИСЫ В S7, </a:t>
            </a:r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ПОДДЕРЖИВАЮЩИЕ ПРОЦЕССЫ РАБОТЫ УЧЕБНОГО ЦЕНТРА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1050" y="3224076"/>
            <a:ext cx="345598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Неэффективные процессы обслуживания гостиничного комплекса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Риски при обеспечении качества обслуживания клиентов учебного центра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Перегруженность персонала по планированию</a:t>
            </a:r>
          </a:p>
          <a:p>
            <a:pPr>
              <a:spcAft>
                <a:spcPts val="1200"/>
              </a:spcAft>
              <a:buClr>
                <a:schemeClr val="tx1"/>
              </a:buClr>
            </a:pPr>
            <a:endParaRPr lang="ru-RU" sz="1400" dirty="0">
              <a:latin typeface="PT Sans Regular" charset="-52"/>
              <a:ea typeface="PT Sans Regular" charset="-52"/>
              <a:cs typeface="PT Sans Regular" charset="-5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01050" y="263872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19344" y="857356"/>
            <a:ext cx="2207222" cy="516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19</a:t>
            </a:r>
            <a:r>
              <a:rPr lang="en-US" sz="1000" dirty="0">
                <a:ea typeface="PT Sans Regular" charset="-52"/>
                <a:cs typeface="PT Sans Regular" charset="-52"/>
              </a:rPr>
              <a:t>57</a:t>
            </a:r>
            <a:r>
              <a:rPr lang="ru-RU" sz="1000" dirty="0">
                <a:ea typeface="PT Sans Regular" charset="-52"/>
                <a:cs typeface="PT Sans Regular" charset="-52"/>
              </a:rPr>
              <a:t>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2 878 сотрудников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свыше 18 млн. пассажиров за 2018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15" name="Picture 14" descr="https://lh4.googleusercontent.com/SBSWtsdHDhh4uhKM49zX4WTgUf0g9m1U9P7y6lo7c2S3-mz-_xtbnNIbR1wbNy5T-wR6BUDl1eN0YXpmvkS-N23PvXHT0NxZRX3A9ig6l37WVw0F4byq1-TGR7pMKoaeR1kM2dc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01249" y="611479"/>
            <a:ext cx="1008112" cy="100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5F401A-786E-9FCE-AE30-27D1F6994D60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B32F23FA-1EA0-20DA-A836-865F1AB1521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2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879" y="-125451"/>
            <a:ext cx="4407199" cy="2573054"/>
          </a:xfrm>
          <a:prstGeom prst="rect">
            <a:avLst/>
          </a:prstGeom>
          <a:effectLst/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27325" y="1994593"/>
            <a:ext cx="4407199" cy="2226570"/>
          </a:xfrm>
          <a:prstGeom prst="rect">
            <a:avLst/>
          </a:prstGeom>
          <a:effectLst/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93501" y="4221162"/>
            <a:ext cx="5219268" cy="2636837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440238" y="333375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237" y="918731"/>
            <a:ext cx="3599979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 процесс предоставления услуг летного тренажера: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от заявки до брони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от брони до предоставления всех необходимых услуг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Автоматизированы ключевые, поддерживающие процесс обучения сервисы: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Бронирование проживание групп учащихся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Бронирование автомобилей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Хозяйственное и техническое обслуживание гостиничного комплекса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Планирование закупок материалов для ремонтов помещений, с учетом потребностей и остатков на складе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Обеспечение персонала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СИЗами</a:t>
            </a:r>
            <a:endParaRPr lang="ru-RU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918731"/>
            <a:ext cx="3455988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Среднее время обработки запросов на оказание услуг сократилось в 2 раза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Ощутимо увеличена эффективность использования и обслуживания гостиничного комплекса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Минимизирована трудоемкость планирования закупок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Прозрачный и управляемый процесс предоставления летных тренажеров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Существенно повысилось качество оказываемых учебным центром услуг</a:t>
            </a:r>
          </a:p>
        </p:txBody>
      </p:sp>
    </p:spTree>
    <p:extLst>
      <p:ext uri="{BB962C8B-B14F-4D97-AF65-F5344CB8AC3E}">
        <p14:creationId xmlns:p14="http://schemas.microsoft.com/office/powerpoint/2010/main" val="1419809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1FE1623-C179-F793-7D57-79B123E6B8DA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3" y="5325233"/>
            <a:ext cx="748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СКВОЗНОЙ ПРОЦЕСС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В САЛАВАТСТЕКЛО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1050" y="3224076"/>
            <a:ext cx="345598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Заказ передаётся на производство в Excel и вручную вбивается в производственную систему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Произведённая продукция передаётся на склад без привязки к номеру заказа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Складские позиции не бьются в заказами и их дальнейшая логистика затруднена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1050" y="263872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1050" y="1274824"/>
            <a:ext cx="3455989" cy="516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1962 году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1 200 сотрудников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30% рынка российского стекла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194" y="684206"/>
            <a:ext cx="2703075" cy="4865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E4C2A1-4EDE-8D6F-46D5-9521A150933B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74F8889-DC21-C058-E038-8C8E4ECBC5F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75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42"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71B3D-F578-11A9-709D-A44481381857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440238" y="333375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237" y="945373"/>
            <a:ext cx="338455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Формализован сквозной бизнес-процесс от заказа до отгрузки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Разработаны интерфейсы для всех участников процесса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Доступ к данным организован с учётом требований информационной безопасности и текущей стадии процесса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948160"/>
            <a:ext cx="345598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Заказчик получил возможность оптимизации процесса целиком вместо “латания дыр” в отдельных его частях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Доля услуг в проекте — 70%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 планах заказчика распространить положительный опыт на </a:t>
            </a:r>
            <a:br>
              <a:rPr lang="ru-RU" sz="1400" dirty="0">
                <a:ea typeface="PT Sans Regular" charset="-52"/>
                <a:cs typeface="PT Sans Regular" charset="-52"/>
              </a:rPr>
            </a:br>
            <a:r>
              <a:rPr lang="ru-RU" sz="1400" dirty="0">
                <a:ea typeface="PT Sans Regular" charset="-52"/>
                <a:cs typeface="PT Sans Regular" charset="-52"/>
              </a:rPr>
              <a:t>другие процессы и подразделения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15" y="908720"/>
            <a:ext cx="4103291" cy="2395235"/>
          </a:xfrm>
          <a:prstGeom prst="rect">
            <a:avLst/>
          </a:prstGeom>
          <a:effectLst/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416" y="3303955"/>
            <a:ext cx="4103291" cy="2395235"/>
          </a:xfrm>
          <a:prstGeom prst="rect">
            <a:avLst/>
          </a:prstGeom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4E4183-40AA-949D-9A18-350DD06D5F4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19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C6CD181-3C5D-2F46-3F16-3B5686985FAC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2" y="5324296"/>
            <a:ext cx="748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КОНТРОЛЬ</a:t>
            </a: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ДЕБИТОРСКОЙ ЗАДОЛЖЕННОСТИ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1050" y="3224076"/>
            <a:ext cx="3455988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Ручное выставление большого количества счетов и контроль их оплаты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Задержки в выставлении счетов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скорость согласования счетов и внесения правок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Увеличение просроченной дебиторской задолженности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1050" y="263872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12" name="Picture 2" descr="Картинки по запросу &quot;slickjump logo&quot;">
            <a:extLst>
              <a:ext uri="{FF2B5EF4-FFF2-40B4-BE49-F238E27FC236}">
                <a16:creationId xmlns:a16="http://schemas.microsoft.com/office/drawing/2014/main" id="{B90BB4CC-4D1E-4C90-BF16-F4777B5D0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01050" y="515693"/>
            <a:ext cx="1944994" cy="80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8401050" y="1136122"/>
            <a:ext cx="3455989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2013 году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65 млн. посетителей в сутки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Крупнейшая независимая рекламная сеть Рунета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BD3CA0-655A-0212-CD54-E2BCE9FC0E7C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06D8EB42-C661-F2F5-72ED-0A5B8FD4613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42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824788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58FD1C3-5558-EF7D-B634-D29E0785EBAA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20234" y="1298791"/>
            <a:ext cx="5201904" cy="2939630"/>
          </a:xfrm>
          <a:prstGeom prst="rect">
            <a:avLst/>
          </a:prstGeom>
          <a:effectLst/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61065" y="4238422"/>
            <a:ext cx="4964521" cy="2619578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440238" y="333375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7884B28-7E10-7DF2-46EC-72C80106783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40237" y="918731"/>
            <a:ext cx="3384551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Автоматическое выставление счетов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Цифровизованный процесс согласования счетов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Роботизированные напоминания  клиентам о необходимости оплаты счетов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Автоматическое прекращение оказания услуг клиенту с задолженностью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918731"/>
            <a:ext cx="345598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Скорость выставления счетов увеличена в 9 раз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Размер дебиторской задолженности уменьшен на 57%</a:t>
            </a:r>
          </a:p>
        </p:txBody>
      </p:sp>
    </p:spTree>
    <p:extLst>
      <p:ext uri="{BB962C8B-B14F-4D97-AF65-F5344CB8AC3E}">
        <p14:creationId xmlns:p14="http://schemas.microsoft.com/office/powerpoint/2010/main" val="1592281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0" b="25185"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6DD938-5610-ACE6-29E1-B3F8CB60A5ED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2" y="5324296"/>
            <a:ext cx="748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УПРАВЛЕНИЕ НЕДВИЖИМОСТЬЮ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В МИД РФ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1050" y="3224076"/>
            <a:ext cx="3455988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Отсутствие единого реестра обращений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Бумажная картотека материальных ценностей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Слабый контроль приводит к неудовлетворительным срокам устранения проблем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1050" y="263872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10" name="Picture 2" descr="Эмблема МИД[1]">
            <a:extLst>
              <a:ext uri="{FF2B5EF4-FFF2-40B4-BE49-F238E27FC236}">
                <a16:creationId xmlns:a16="http://schemas.microsoft.com/office/drawing/2014/main" id="{A3D9FFAD-23AE-466A-9D8E-2B2B2BE74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050" y="620688"/>
            <a:ext cx="863302" cy="101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480377" y="913011"/>
            <a:ext cx="237666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Дата создания: 1549 год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Около 12 000 сотрудников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26A421-120A-F843-5F08-4964984D50F4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168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0" b="25185"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F328B7B-D7A0-1396-EFF6-12DEB6C88588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440238" y="333375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237" y="918731"/>
            <a:ext cx="3384551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Единое окно подачи обращения для сотрудников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Оперативная диспетчеризация обращений по службам для диагностики неисправностей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Информирование инженерного состава по СМС и e-mail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Формирование заказ-нарядов с учетом плановых трудозатрат на типовые операции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Набор аналитических отчетов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918731"/>
            <a:ext cx="345598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Среднее время обработки запросов на закупку сократилось на 53%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Количество бумажных документов снижено до необходимого минимума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0345" y="1916113"/>
            <a:ext cx="4599898" cy="2427180"/>
          </a:xfrm>
          <a:prstGeom prst="rect">
            <a:avLst/>
          </a:prstGeom>
          <a:effectLst/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033" y="4316831"/>
            <a:ext cx="4352586" cy="2541169"/>
          </a:xfrm>
          <a:prstGeom prst="rect">
            <a:avLst/>
          </a:prstGeom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12221-E330-A188-9436-D43ED843BE3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14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35"/>
          <a:stretch/>
        </p:blipFill>
        <p:spPr>
          <a:xfrm>
            <a:off x="0" y="0"/>
            <a:ext cx="7824788" cy="6858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089106" y="0"/>
            <a:ext cx="416798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401050" y="350935"/>
            <a:ext cx="3206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01051" y="899230"/>
            <a:ext cx="3455987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 сквозной бизнес-процесс от заявки до закупки: анализ рынка, заявки на закупку, проведение тендеров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Настроенное решение позволяет вести учет поставщиков, контактных лиц, контрактов, закупаемой номенклатуры.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1050" y="3075359"/>
            <a:ext cx="3636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3651050"/>
            <a:ext cx="345598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Среднее время обработки запросов на закупку сократилось на 64%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Длительность тендерной процедуры уменьшилась в 2 раза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963" y="5324296"/>
            <a:ext cx="4537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УПРАВЛЕНИЕ ЗАКУПКАМИ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5332" y="332656"/>
            <a:ext cx="2346551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2011 году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Около 8000 сотрудников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более 1 000 брендов и 2 млн. товаров</a:t>
            </a:r>
          </a:p>
        </p:txBody>
      </p:sp>
      <p:sp>
        <p:nvSpPr>
          <p:cNvPr id="13" name="Rectangle 18"/>
          <p:cNvSpPr/>
          <p:nvPr/>
        </p:nvSpPr>
        <p:spPr>
          <a:xfrm>
            <a:off x="4442559" y="264321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20" name="Rectangle 17"/>
          <p:cNvSpPr/>
          <p:nvPr/>
        </p:nvSpPr>
        <p:spPr>
          <a:xfrm>
            <a:off x="4440238" y="3253947"/>
            <a:ext cx="338355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Использование Excel и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email</a:t>
            </a:r>
            <a:r>
              <a:rPr lang="ru-RU" sz="1400" dirty="0">
                <a:ea typeface="PT Sans Regular" charset="-52"/>
                <a:cs typeface="PT Sans Regular" charset="-52"/>
              </a:rPr>
              <a:t> для управлениея процессом закупки материально-технических ценностей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скорость обработки запросов на закупку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Затянутая тендерная процедура</a:t>
            </a:r>
          </a:p>
        </p:txBody>
      </p:sp>
      <p:cxnSp>
        <p:nvCxnSpPr>
          <p:cNvPr id="21" name="Straight Connector 10"/>
          <p:cNvCxnSpPr/>
          <p:nvPr/>
        </p:nvCxnSpPr>
        <p:spPr>
          <a:xfrm flipH="1">
            <a:off x="4440238" y="2276475"/>
            <a:ext cx="338355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238" y="333375"/>
            <a:ext cx="1080000" cy="540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94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112126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BDE8B2F-5C66-348C-67D1-43BFC25C0352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3" y="5324296"/>
            <a:ext cx="7489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ПОДБОР ПЕРСОНАЛА И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ОХРАНА ТРУДА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1050" y="3224076"/>
            <a:ext cx="345598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скорость закрытия вакансий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Затянутые процессы приёма на работу и обучения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1050" y="263872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DF61BC10-224D-4833-9900-257A63C3B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2264" y="836712"/>
            <a:ext cx="866490" cy="5440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80376" y="880475"/>
            <a:ext cx="3455989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На рынке логистики с 1995 года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Около 2000 сотрудников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250 000 м</a:t>
            </a:r>
            <a:r>
              <a:rPr lang="ru-RU" sz="1000" baseline="30000" dirty="0">
                <a:ea typeface="PT Sans Regular" charset="-52"/>
                <a:cs typeface="PT Sans Regular" charset="-52"/>
              </a:rPr>
              <a:t>2</a:t>
            </a:r>
            <a:r>
              <a:rPr lang="ru-RU" sz="1000" dirty="0">
                <a:ea typeface="PT Sans Regular" charset="-52"/>
                <a:cs typeface="PT Sans Regular" charset="-52"/>
              </a:rPr>
              <a:t> складских площадей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C7408B-1600-A6B8-D0A9-A9162E9A48E1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21A329A-E2B8-71BD-ED7D-DFA4EE498C2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30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824788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C00B36-EA90-262B-BD17-37B4D5648226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354" y="2133730"/>
            <a:ext cx="4794255" cy="18360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91466" y="3969829"/>
            <a:ext cx="5473549" cy="2888171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440238" y="333375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237" y="918731"/>
            <a:ext cx="338455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Цифровизованы процессы подбора персонала и приёма на работу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Автоматизированы бизнес-процессы охраны труда: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Мед. осмотр 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Обучение охране труда 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Расследование инцидентов 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Инструктаж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923062"/>
            <a:ext cx="345598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Скорость закрытия вакансий и приёма на работу ощутимо увеличена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Минимизирована трудоемкость бизнес-процессов охраны труда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299C8-B96F-82DB-235B-A5F92F7759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22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39D249-D9D7-A6CC-211C-36A9FB1159AA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3" y="5319524"/>
            <a:ext cx="7489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ПРОЕКТ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«ЦИФРОВОЙ ИНСТИТУТ»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01050" y="3224076"/>
            <a:ext cx="3455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 центре внимания </a:t>
            </a:r>
            <a:r>
              <a:rPr lang="en-US" sz="1400" dirty="0">
                <a:ea typeface="PT Sans Regular" charset="-52"/>
                <a:cs typeface="PT Sans Regular" charset="-52"/>
              </a:rPr>
              <a:t>—</a:t>
            </a:r>
            <a:r>
              <a:rPr lang="ru-RU" sz="1400" dirty="0">
                <a:ea typeface="PT Sans Regular" charset="-52"/>
                <a:cs typeface="PT Sans Regular" charset="-52"/>
              </a:rPr>
              <a:t> научный сотрудник и его потребности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Главный критерий успеха </a:t>
            </a:r>
            <a:r>
              <a:rPr lang="en-US" sz="1400" dirty="0">
                <a:ea typeface="PT Sans Regular" charset="-52"/>
                <a:cs typeface="PT Sans Regular" charset="-52"/>
              </a:rPr>
              <a:t>—</a:t>
            </a:r>
            <a:r>
              <a:rPr lang="ru-RU" sz="1400" dirty="0">
                <a:ea typeface="PT Sans Regular" charset="-52"/>
                <a:cs typeface="PT Sans Regular" charset="-52"/>
              </a:rPr>
              <a:t> соотношение затрат времени ученого (</a:t>
            </a:r>
            <a:r>
              <a:rPr lang="ru-RU" sz="1400" i="1" dirty="0">
                <a:ea typeface="PT Sans Regular" charset="-52"/>
                <a:cs typeface="PT Sans Regular" charset="-52"/>
              </a:rPr>
              <a:t>например, заведующего лабораторией</a:t>
            </a:r>
            <a:r>
              <a:rPr lang="ru-RU" sz="1400" dirty="0">
                <a:ea typeface="PT Sans Regular" charset="-52"/>
                <a:cs typeface="PT Sans Regular" charset="-52"/>
              </a:rPr>
              <a:t>) на науку / на административную рутину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1050" y="2638720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Ключевые принципы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1051" y="772511"/>
            <a:ext cx="1151333" cy="76346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696400" y="764704"/>
            <a:ext cx="2207222" cy="384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/>
              <a:t>ОБЪЕДИНЕННЫЙ ИНСТИТУТ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/>
              <a:t>ЯДЕРНЫХ ИССЛЕДОВАНИЙ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696400" y="1161769"/>
            <a:ext cx="3455989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 в 1956 году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5500 сотрудников</a:t>
            </a:r>
          </a:p>
          <a:p>
            <a:pPr>
              <a:lnSpc>
                <a:spcPts val="1080"/>
              </a:lnSpc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1000 докторов наук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107F31-5AFD-4C46-E8B7-45A03DE20D6B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024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0EBC62-250A-72F1-53D4-D43BC48C3562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440238" y="333375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Цели проекта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237" y="939995"/>
            <a:ext cx="345596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Повышение производительности научных сотрудников за счет минимизации отвлечения на административно-хозяйственную деятельность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Повышение производительности вспомогательных служб за счет последовательного совершенствования бизнес-процессов, участниками которых они являются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Устранение административных барьеров, непроизводительных затрат и всех видов потерь не только внутри института, но и во взаимодействии между институтом и государствами-учредителями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Создание внутреннего центра компетенций по цифровизации процессов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Трансфер передовых управленческих и цифровых технологий от ОИЯИ научным организациям в России и за рубежом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1050" y="333375"/>
            <a:ext cx="34559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Последовательность выполнения проекта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1050" y="1217792"/>
            <a:ext cx="3455988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Реализован пилотный проект решения по контролю исполнения поручений 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Разработана концепция и план цифровой трансформации до 2023 года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Составлен список и план-график проектов по автоматизации процессов первого приоритета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 работе: Проектирование архитектуры «Цифрового Института»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Запланированы к реализации проекты первой очереди: «Процессы закупочной деятельности», «Командировки», «Процессы HR»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67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703298-7468-CC29-B041-448B9BD81D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960" b="14785"/>
          <a:stretch/>
        </p:blipFill>
        <p:spPr>
          <a:xfrm>
            <a:off x="0" y="0"/>
            <a:ext cx="8112125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694FF9-1B63-5FFF-5679-6E7DD1CA04B7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8EB536-9392-5CD1-D380-7B6FF3982767}"/>
              </a:ext>
            </a:extLst>
          </p:cNvPr>
          <p:cNvSpPr txBox="1"/>
          <p:nvPr/>
        </p:nvSpPr>
        <p:spPr>
          <a:xfrm>
            <a:off x="352406" y="5324296"/>
            <a:ext cx="748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ЦИФРОВОЙ</a:t>
            </a:r>
            <a:endParaRPr lang="en-US" sz="3600" b="1" dirty="0">
              <a:solidFill>
                <a:schemeClr val="bg1"/>
              </a:solidFill>
            </a:endParaRPr>
          </a:p>
          <a:p>
            <a:r>
              <a:rPr lang="ru-RU" sz="3600" b="1" dirty="0">
                <a:solidFill>
                  <a:schemeClr val="bg1"/>
                </a:solidFill>
              </a:rPr>
              <a:t>ДОКУМЕНТООБОРОТ</a:t>
            </a: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0084709D-B21F-F74C-ADE0-0D1AC316472D}"/>
              </a:ext>
            </a:extLst>
          </p:cNvPr>
          <p:cNvSpPr/>
          <p:nvPr/>
        </p:nvSpPr>
        <p:spPr>
          <a:xfrm>
            <a:off x="8401050" y="2639922"/>
            <a:ext cx="3498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0E8643F6-DE1E-898B-9169-0BFD06378337}"/>
              </a:ext>
            </a:extLst>
          </p:cNvPr>
          <p:cNvSpPr/>
          <p:nvPr/>
        </p:nvSpPr>
        <p:spPr>
          <a:xfrm>
            <a:off x="8401050" y="3226326"/>
            <a:ext cx="354055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Существующее решение дорого поддерживать и развивать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 err="1">
                <a:ea typeface="PT Sans Regular" charset="-52"/>
                <a:cs typeface="PT Sans Regular" charset="-52"/>
              </a:rPr>
              <a:t>Полуавтоматизированные</a:t>
            </a:r>
            <a:r>
              <a:rPr lang="ru-RU" sz="1400" dirty="0">
                <a:ea typeface="PT Sans Regular" charset="-52"/>
                <a:cs typeface="PT Sans Regular" charset="-52"/>
              </a:rPr>
              <a:t> процессы согласования договоров и счетов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Нет автоматизированного процесса согласования контрагентов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Отсутствует процедура контроля оплат по согласованным счетам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Нет электронного обмена подписанных документов с контрагентами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Существующее решение – «толстый клиент»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endParaRPr lang="ru-RU" sz="1400" dirty="0">
              <a:latin typeface="PT Sans Regular" charset="-52"/>
              <a:ea typeface="PT Sans Regular" charset="-52"/>
              <a:cs typeface="PT Sans Regular" charset="-52"/>
            </a:endParaRPr>
          </a:p>
        </p:txBody>
      </p:sp>
      <p:sp>
        <p:nvSpPr>
          <p:cNvPr id="6" name="Rectangle 10"/>
          <p:cNvSpPr/>
          <p:nvPr/>
        </p:nvSpPr>
        <p:spPr>
          <a:xfrm>
            <a:off x="9984432" y="984058"/>
            <a:ext cx="34176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Федеральная сеть</a:t>
            </a: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магазинов электроники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978" y="812228"/>
            <a:ext cx="1445300" cy="74377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1D8DD0-A83C-F543-94D6-000FBA102A12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5CBF072-5791-9F5E-5AD2-70BF16F2D3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4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42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4C719451-BF29-DB19-F58D-2BABA06CAB4E}"/>
              </a:ext>
            </a:extLst>
          </p:cNvPr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C1D8D283-7E1F-59BF-BFA8-2FF2B90DC65D}"/>
              </a:ext>
            </a:extLst>
          </p:cNvPr>
          <p:cNvSpPr/>
          <p:nvPr/>
        </p:nvSpPr>
        <p:spPr>
          <a:xfrm>
            <a:off x="8401050" y="938451"/>
            <a:ext cx="3455988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Сокращение сроков согласования договоров, счетов и контрагентов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Существенно сократилось время по выполнению обязательств по оплатам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Сокращение бумажного документооборота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Сокращение затрат на поддержку устаревшего решения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Контроль оплат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D1527F-43D5-D859-1272-EA50C3AD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0" y="0"/>
            <a:ext cx="4245193" cy="19819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E99F1BC-00A6-A7D0-4FAE-8428851B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8613" y="2059730"/>
            <a:ext cx="5170528" cy="241381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B6254DB-A951-0AFC-8460-D7E13D9C1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4134" y="4484226"/>
            <a:ext cx="5084009" cy="2373774"/>
          </a:xfrm>
          <a:prstGeom prst="rect">
            <a:avLst/>
          </a:prstGeom>
        </p:spPr>
      </p:pic>
      <p:sp>
        <p:nvSpPr>
          <p:cNvPr id="10" name="Rectangle 17"/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A62FBFB2-CD51-7179-8CEB-BA003CD019D8}"/>
              </a:ext>
            </a:extLst>
          </p:cNvPr>
          <p:cNvSpPr/>
          <p:nvPr/>
        </p:nvSpPr>
        <p:spPr>
          <a:xfrm>
            <a:off x="4440238" y="330383"/>
            <a:ext cx="32035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7EFE777E-4C04-1C2F-6D52-805D1DDE6362}"/>
              </a:ext>
            </a:extLst>
          </p:cNvPr>
          <p:cNvSpPr/>
          <p:nvPr/>
        </p:nvSpPr>
        <p:spPr>
          <a:xfrm>
            <a:off x="4440238" y="938451"/>
            <a:ext cx="338455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Автоматизированы процессы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Согласования и подписания договоров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Согласования счетов на оплату и загрузка бюджета расходов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Согласования контрагентов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Настроена возможность подписания договоров с помощью ЭЦП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Настроена интеграция с провайдером защищенного электронного документооборота</a:t>
            </a:r>
          </a:p>
        </p:txBody>
      </p:sp>
    </p:spTree>
    <p:extLst>
      <p:ext uri="{BB962C8B-B14F-4D97-AF65-F5344CB8AC3E}">
        <p14:creationId xmlns:p14="http://schemas.microsoft.com/office/powerpoint/2010/main" val="1441679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B89E9AC-1206-AF2E-CA92-F87AEDBA6C88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43014" y="5324296"/>
            <a:ext cx="7425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РАЗРАБОТКА </a:t>
            </a: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НОВЫХ ПРОДУКТОВ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1050" y="3224076"/>
            <a:ext cx="345598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Длительный и неконтролируемый процесс разработки новых продуктов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эффективность совместной работы структурных подразделений компании в рамках процессов разработки новых продуктов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Ручной контроль всех задач в проектах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вероятность успешного завершения начатых проектов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скорость согласования модернизации производственных линий под выпуск новой продукции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01050" y="2644974"/>
            <a:ext cx="164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20149" y="861239"/>
            <a:ext cx="19805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1999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10 500 сотрудников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6 заводов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sp>
        <p:nvSpPr>
          <p:cNvPr id="16" name="Rectangle 12">
            <a:extLst>
              <a:ext uri="{FF2B5EF4-FFF2-40B4-BE49-F238E27FC236}">
                <a16:creationId xmlns:a16="http://schemas.microsoft.com/office/drawing/2014/main" id="{FA6B4F4F-C436-6E43-85F5-AAC594934229}"/>
              </a:ext>
            </a:extLst>
          </p:cNvPr>
          <p:cNvSpPr/>
          <p:nvPr/>
        </p:nvSpPr>
        <p:spPr>
          <a:xfrm>
            <a:off x="8472487" y="831430"/>
            <a:ext cx="1355995" cy="830997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Крупный производитель алкогольной продукции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B249EE-EB64-1A09-4393-5DEDA8839ADB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33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3B6147-1E79-B066-FFD0-4526EA28A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0338" y="0"/>
            <a:ext cx="5061320" cy="23631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A3828F-F63C-07F8-BCCE-16A1AEA31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0604" y="2363180"/>
            <a:ext cx="5501470" cy="25686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583858C-AC49-0E30-B3FA-C0D134899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0511" y="4931871"/>
            <a:ext cx="4860749" cy="2266828"/>
          </a:xfrm>
          <a:prstGeom prst="rect">
            <a:avLst/>
          </a:prstGeom>
        </p:spPr>
      </p:pic>
      <p:sp>
        <p:nvSpPr>
          <p:cNvPr id="14" name="Rectangle 17">
            <a:extLst>
              <a:ext uri="{FF2B5EF4-FFF2-40B4-BE49-F238E27FC236}">
                <a16:creationId xmlns:a16="http://schemas.microsoft.com/office/drawing/2014/main" id="{EDCE3689-88B9-1AFB-0D66-0C2DB8D9BA4B}"/>
              </a:ext>
            </a:extLst>
          </p:cNvPr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F09D5A34-A368-3C31-9756-86304C669200}"/>
              </a:ext>
            </a:extLst>
          </p:cNvPr>
          <p:cNvSpPr/>
          <p:nvPr/>
        </p:nvSpPr>
        <p:spPr>
          <a:xfrm>
            <a:off x="4440238" y="344049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423306F9-5457-FEBF-6191-7946151096D0}"/>
              </a:ext>
            </a:extLst>
          </p:cNvPr>
          <p:cNvSpPr/>
          <p:nvPr/>
        </p:nvSpPr>
        <p:spPr>
          <a:xfrm>
            <a:off x="4440238" y="921518"/>
            <a:ext cx="3384551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Автоматизированы процессы: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Согласование идеи нового продукта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Ведения проекта по разработке нового продукта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Согласование экономики выпуска нового продукта</a:t>
            </a:r>
          </a:p>
          <a:p>
            <a:pPr marL="742950" lvl="1" indent="-28575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ea typeface="PT Sans Regular" charset="-52"/>
                <a:cs typeface="PT Sans Regular" charset="-52"/>
              </a:rPr>
              <a:t>Планирование и выполнение модернизации производства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Единый план-график проектов для контроля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Планирование ресурсов 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9ACB2DF-DBB6-B57B-D3DD-92773A3F3DC1}"/>
              </a:ext>
            </a:extLst>
          </p:cNvPr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E44B4F7-1422-E25F-C353-7CFB26C61D58}"/>
              </a:ext>
            </a:extLst>
          </p:cNvPr>
          <p:cNvSpPr/>
          <p:nvPr/>
        </p:nvSpPr>
        <p:spPr>
          <a:xfrm>
            <a:off x="8401050" y="918731"/>
            <a:ext cx="3455988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Сокращение сроков разработки и выпуска пробной партии нового продукта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Полный контроль над процессов разработки нового продукта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Единая система актуальной информации для принятия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3924716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571AA1-79D6-D506-2C60-CFF59B9D9625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43176" y="5324296"/>
            <a:ext cx="7425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УПРАВЛЕНИЕ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ПРЕТЕНЗИЯМИ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1050" y="3224076"/>
            <a:ext cx="345598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Отсутствие единого канала по коммуникации с потребителями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Неэффективная обработка поступающих рекламаций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Нет анализа выявляемых проблем и устранения их первопричин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1050" y="2636838"/>
            <a:ext cx="164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6531" y="861239"/>
            <a:ext cx="19805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Основана в 1999 году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10 500 сотрудников</a:t>
            </a:r>
            <a:endParaRPr lang="en-US" sz="1000" dirty="0">
              <a:ea typeface="PT Sans Regular" charset="-52"/>
              <a:cs typeface="PT Sans Regular" charset="-52"/>
            </a:endParaRP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6 заводов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E9E841-D3C7-92EE-21A5-417EA07EB045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2">
            <a:extLst>
              <a:ext uri="{FF2B5EF4-FFF2-40B4-BE49-F238E27FC236}">
                <a16:creationId xmlns:a16="http://schemas.microsoft.com/office/drawing/2014/main" id="{A7721A5B-FE49-8B24-8CF3-4189BBF05FF3}"/>
              </a:ext>
            </a:extLst>
          </p:cNvPr>
          <p:cNvSpPr/>
          <p:nvPr/>
        </p:nvSpPr>
        <p:spPr>
          <a:xfrm>
            <a:off x="8472488" y="831430"/>
            <a:ext cx="1151904" cy="1015663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Крупная </a:t>
            </a:r>
          </a:p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Розничная </a:t>
            </a:r>
          </a:p>
          <a:p>
            <a:pPr>
              <a:buClr>
                <a:srgbClr val="409ED6"/>
              </a:buClr>
            </a:pPr>
            <a:r>
              <a:rPr lang="ru-RU" sz="1200" i="1" dirty="0">
                <a:solidFill>
                  <a:schemeClr val="tx1">
                    <a:lumMod val="85000"/>
                    <a:lumOff val="15000"/>
                  </a:schemeClr>
                </a:solidFill>
                <a:ea typeface="PT Sans Regular" charset="-52"/>
                <a:cs typeface="PT Sans Regular" charset="-52"/>
              </a:rPr>
              <a:t>Сеть алкогольной продукции</a:t>
            </a:r>
            <a:endParaRPr lang="en-US" sz="1200" i="1" dirty="0">
              <a:solidFill>
                <a:schemeClr val="tx1">
                  <a:lumMod val="85000"/>
                  <a:lumOff val="15000"/>
                </a:schemeClr>
              </a:solidFill>
              <a:ea typeface="PT Sans Regular" charset="-52"/>
              <a:cs typeface="PT Sans Regular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6776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3D5CD7-EB12-8371-8C52-DAE8B324F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60749" cy="22668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FBBDF5-27B5-4B6F-F55A-5823469DC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8439" y="2276475"/>
            <a:ext cx="5059188" cy="235937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8B8F61F-FA55-140C-A1F2-22D9E52C4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3618" y="4581497"/>
            <a:ext cx="6048672" cy="2814510"/>
          </a:xfrm>
          <a:prstGeom prst="rect">
            <a:avLst/>
          </a:prstGeom>
        </p:spPr>
      </p:pic>
      <p:sp>
        <p:nvSpPr>
          <p:cNvPr id="9" name="Rectangle 17">
            <a:extLst>
              <a:ext uri="{FF2B5EF4-FFF2-40B4-BE49-F238E27FC236}">
                <a16:creationId xmlns:a16="http://schemas.microsoft.com/office/drawing/2014/main" id="{7596FB9F-0DD7-EDDC-8DE5-C890C856474C}"/>
              </a:ext>
            </a:extLst>
          </p:cNvPr>
          <p:cNvSpPr/>
          <p:nvPr/>
        </p:nvSpPr>
        <p:spPr>
          <a:xfrm>
            <a:off x="4079875" y="0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F09D5A34-A368-3C31-9756-86304C669200}"/>
              </a:ext>
            </a:extLst>
          </p:cNvPr>
          <p:cNvSpPr/>
          <p:nvPr/>
        </p:nvSpPr>
        <p:spPr>
          <a:xfrm>
            <a:off x="4440238" y="344049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E44B4F7-1422-E25F-C353-7CFB26C61D58}"/>
              </a:ext>
            </a:extLst>
          </p:cNvPr>
          <p:cNvSpPr/>
          <p:nvPr/>
        </p:nvSpPr>
        <p:spPr>
          <a:xfrm>
            <a:off x="8395940" y="918731"/>
            <a:ext cx="345598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Повышение качества взаимодействия с потребителями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Сокращение числа повторных рекламаций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Улучшение качества выпускаемой продукции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Сокращение количества обращений в контролирующие органы по вопросам качества продукции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423306F9-5457-FEBF-6191-7946151096D0}"/>
              </a:ext>
            </a:extLst>
          </p:cNvPr>
          <p:cNvSpPr/>
          <p:nvPr/>
        </p:nvSpPr>
        <p:spPr>
          <a:xfrm>
            <a:off x="4439816" y="918731"/>
            <a:ext cx="3384551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 процесс приема и обработки рекламаций от потребителей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Вовлечение заводов в анализ проблемы, выявление причины и ее устранения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Единая среда накопления всей информации по обращениям по качеству продукции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9ACB2DF-DBB6-B57B-D3DD-92773A3F3DC1}"/>
              </a:ext>
            </a:extLst>
          </p:cNvPr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07567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0A3E9-E817-EA3C-B693-BD30682C7A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914"/>
          <a:stretch/>
        </p:blipFill>
        <p:spPr>
          <a:xfrm>
            <a:off x="0" y="0"/>
            <a:ext cx="8112125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1E6C09-F4C3-9960-220C-8D9F35673323}"/>
              </a:ext>
            </a:extLst>
          </p:cNvPr>
          <p:cNvSpPr/>
          <p:nvPr/>
        </p:nvSpPr>
        <p:spPr>
          <a:xfrm>
            <a:off x="0" y="1"/>
            <a:ext cx="8111803" cy="6857999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112125" y="0"/>
            <a:ext cx="408019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7163" y="5324296"/>
            <a:ext cx="7425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КЕЙС</a:t>
            </a:r>
          </a:p>
          <a:p>
            <a:pPr marL="14288"/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«</a:t>
            </a:r>
            <a:r>
              <a:rPr lang="en-US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EASY</a:t>
            </a:r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 </a:t>
            </a:r>
            <a:r>
              <a:rPr lang="en-US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MEDIA</a:t>
            </a:r>
            <a:r>
              <a:rPr lang="ru-RU" sz="3600" b="1" dirty="0">
                <a:solidFill>
                  <a:schemeClr val="bg1"/>
                </a:solidFill>
                <a:ea typeface="PT Sans Regular" charset="-52"/>
                <a:cs typeface="PT Sans Regular" charset="-52"/>
              </a:rPr>
              <a:t>»</a:t>
            </a:r>
            <a:endParaRPr lang="en-US" sz="3600" b="1" dirty="0">
              <a:solidFill>
                <a:schemeClr val="bg1"/>
              </a:solidFill>
              <a:ea typeface="PT Sans Regular" charset="-52"/>
              <a:cs typeface="PT Sans Regular" charset="-5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01050" y="3224076"/>
            <a:ext cx="3455988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Высокие трудозатраты по выполнению рекламных проектов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Низкая эффективность взаимодействия сотрудников в рамках проектов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Отсутствие полной картины по всем проектам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1050" y="2636838"/>
            <a:ext cx="164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Проблемы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6531" y="861239"/>
            <a:ext cx="19805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Крупное рекламное агентство</a:t>
            </a:r>
          </a:p>
          <a:p>
            <a:pPr>
              <a:buClr>
                <a:srgbClr val="409ED6"/>
              </a:buClr>
            </a:pPr>
            <a:r>
              <a:rPr lang="ru-RU" sz="1000" dirty="0">
                <a:ea typeface="PT Sans Regular" charset="-52"/>
                <a:cs typeface="PT Sans Regular" charset="-52"/>
              </a:rPr>
              <a:t>Входит в международный рекламный холдинг</a:t>
            </a:r>
            <a:endParaRPr lang="en-US" sz="1000" dirty="0">
              <a:ea typeface="PT Sans Regular" charset="-52"/>
              <a:cs typeface="PT Sans Regular" charset="-5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3375"/>
            <a:ext cx="1080000" cy="156277"/>
          </a:xfrm>
          <a:prstGeom prst="rect">
            <a:avLst/>
          </a:prstGeom>
        </p:spPr>
      </p:pic>
      <p:sp>
        <p:nvSpPr>
          <p:cNvPr id="2" name="AutoShape 2" descr="Easy Media | Каталог рекламных агентств России | AdIndex.r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725" y="631496"/>
            <a:ext cx="1398440" cy="102385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86E0F5-4CC5-902C-DD6E-FDC42F586A4C}"/>
              </a:ext>
            </a:extLst>
          </p:cNvPr>
          <p:cNvCxnSpPr>
            <a:cxnSpLocks/>
          </p:cNvCxnSpPr>
          <p:nvPr/>
        </p:nvCxnSpPr>
        <p:spPr>
          <a:xfrm flipH="1">
            <a:off x="8401050" y="2276475"/>
            <a:ext cx="3455988" cy="0"/>
          </a:xfrm>
          <a:prstGeom prst="line">
            <a:avLst/>
          </a:prstGeom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0127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60DE4D-D198-D28F-57CE-3D929AD5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9805" y="14218"/>
            <a:ext cx="4781629" cy="222494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1D91EE-A8F1-E43B-7844-CFB38FAF6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4219" y="1916113"/>
            <a:ext cx="5633264" cy="262983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BC83A3-5938-44C1-AF6B-2B29AAEE5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159" y="4591630"/>
            <a:ext cx="4847034" cy="2270226"/>
          </a:xfrm>
          <a:prstGeom prst="rect">
            <a:avLst/>
          </a:prstGeom>
        </p:spPr>
      </p:pic>
      <p:sp>
        <p:nvSpPr>
          <p:cNvPr id="9" name="Rectangle 17">
            <a:extLst>
              <a:ext uri="{FF2B5EF4-FFF2-40B4-BE49-F238E27FC236}">
                <a16:creationId xmlns:a16="http://schemas.microsoft.com/office/drawing/2014/main" id="{633CD9B2-AD00-AF45-D728-37CF20917368}"/>
              </a:ext>
            </a:extLst>
          </p:cNvPr>
          <p:cNvSpPr/>
          <p:nvPr/>
        </p:nvSpPr>
        <p:spPr>
          <a:xfrm>
            <a:off x="4079875" y="14218"/>
            <a:ext cx="40322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F09D5A34-A368-3C31-9756-86304C669200}"/>
              </a:ext>
            </a:extLst>
          </p:cNvPr>
          <p:cNvSpPr/>
          <p:nvPr/>
        </p:nvSpPr>
        <p:spPr>
          <a:xfrm>
            <a:off x="4440238" y="331348"/>
            <a:ext cx="30956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Решение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423306F9-5457-FEBF-6191-7946151096D0}"/>
              </a:ext>
            </a:extLst>
          </p:cNvPr>
          <p:cNvSpPr/>
          <p:nvPr/>
        </p:nvSpPr>
        <p:spPr>
          <a:xfrm>
            <a:off x="4440238" y="929984"/>
            <a:ext cx="3384551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 сквозной процесс от запроса клиента до закрытия рекламной кампании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Настроен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парсинг</a:t>
            </a:r>
            <a:r>
              <a:rPr lang="ru-RU" sz="1400" dirty="0">
                <a:ea typeface="PT Sans Regular" charset="-52"/>
                <a:cs typeface="PT Sans Regular" charset="-52"/>
              </a:rPr>
              <a:t> сложных медиапланов в формате </a:t>
            </a:r>
            <a:r>
              <a:rPr lang="en-US" sz="1400" dirty="0">
                <a:ea typeface="PT Sans Regular" charset="-52"/>
                <a:cs typeface="PT Sans Regular" charset="-52"/>
              </a:rPr>
              <a:t>Excel </a:t>
            </a:r>
            <a:r>
              <a:rPr lang="ru-RU" sz="1400" dirty="0">
                <a:ea typeface="PT Sans Regular" charset="-52"/>
                <a:cs typeface="PT Sans Regular" charset="-52"/>
              </a:rPr>
              <a:t>в систему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Настроена интеграция с внешними системами посредством </a:t>
            </a:r>
            <a:r>
              <a:rPr lang="en-US" sz="1400" dirty="0">
                <a:ea typeface="PT Sans Regular" charset="-52"/>
                <a:cs typeface="PT Sans Regular" charset="-52"/>
              </a:rPr>
              <a:t>RPA</a:t>
            </a:r>
            <a:endParaRPr lang="ru-RU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Автоматизированы процессы согласования договоров и приложений в том числе с клиентом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Автоматизированы процедуры подготовки закрывающих документов (отчетов, приложений к договорам)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Реализован личный кабинет клиента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69ACB2DF-DBB6-B57B-D3DD-92773A3F3DC1}"/>
              </a:ext>
            </a:extLst>
          </p:cNvPr>
          <p:cNvSpPr/>
          <p:nvPr/>
        </p:nvSpPr>
        <p:spPr>
          <a:xfrm>
            <a:off x="8401050" y="333375"/>
            <a:ext cx="3455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ru-RU" dirty="0">
                <a:ea typeface="PT Sans Regular" charset="-52"/>
                <a:cs typeface="PT Sans Regular" charset="-52"/>
              </a:rPr>
              <a:t>Результат</a:t>
            </a:r>
            <a:r>
              <a:rPr lang="en-US" dirty="0">
                <a:ea typeface="PT Sans Regular" charset="-52"/>
                <a:cs typeface="PT Sans Regular" charset="-52"/>
              </a:rPr>
              <a:t>: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E44B4F7-1422-E25F-C353-7CFB26C61D58}"/>
              </a:ext>
            </a:extLst>
          </p:cNvPr>
          <p:cNvSpPr/>
          <p:nvPr/>
        </p:nvSpPr>
        <p:spPr>
          <a:xfrm>
            <a:off x="8401050" y="936010"/>
            <a:ext cx="345598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Повышение качества взаимодействия с клиентами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Сокращение трудозатрат в рамках рекламных проектов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Минимизация ошибок и потерь в ходе оказания услуг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Существенное сокращение ручного труда по вводу больших объемов информации и сокращение ошибок</a:t>
            </a:r>
          </a:p>
        </p:txBody>
      </p:sp>
    </p:spTree>
    <p:extLst>
      <p:ext uri="{BB962C8B-B14F-4D97-AF65-F5344CB8AC3E}">
        <p14:creationId xmlns:p14="http://schemas.microsoft.com/office/powerpoint/2010/main" val="42875042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079874" y="0"/>
            <a:ext cx="81121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40238" y="334800"/>
            <a:ext cx="7416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ru-RU" sz="3600" b="1" dirty="0">
                <a:ea typeface="PT Sans Regular" charset="-52"/>
                <a:cs typeface="PT Sans Regular" charset="-52"/>
              </a:rPr>
              <a:t>ДРУГИЕ ИСТОРИИ</a:t>
            </a:r>
          </a:p>
          <a:p>
            <a:pPr marL="14288"/>
            <a:r>
              <a:rPr lang="ru-RU" sz="3600" b="1" dirty="0">
                <a:ea typeface="PT Sans Regular" charset="-52"/>
                <a:cs typeface="PT Sans Regular" charset="-52"/>
              </a:rPr>
              <a:t>ПРИМЕНЕНИЯ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0238" y="1916113"/>
            <a:ext cx="7416801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Управление выплатами и спорными ситуациями (</a:t>
            </a:r>
            <a:r>
              <a:rPr lang="ru-RU" sz="1400" dirty="0" err="1">
                <a:ea typeface="PT Sans Regular" charset="-52"/>
                <a:cs typeface="PT Sans Regular" charset="-52"/>
              </a:rPr>
              <a:t>Dispute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Автоматизация процесса ведения клиентов от заявки до выполнения (</a:t>
            </a:r>
            <a:r>
              <a:rPr lang="ru-RU" sz="1400" dirty="0" err="1">
                <a:ea typeface="PT Sans Regular" charset="-52"/>
                <a:cs typeface="PT Sans Regular" charset="-52"/>
              </a:rPr>
              <a:t>Request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to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Result</a:t>
            </a:r>
            <a:r>
              <a:rPr lang="ru-RU" sz="1400" dirty="0">
                <a:ea typeface="PT Sans Regular" charset="-52"/>
                <a:cs typeface="PT Sans Regular" charset="-52"/>
              </a:rPr>
              <a:t>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Автоматизация процессов закупки и сервисного обслуживания</a:t>
            </a:r>
            <a:br>
              <a:rPr lang="en-US" sz="1400" dirty="0">
                <a:ea typeface="PT Sans Regular" charset="-52"/>
                <a:cs typeface="PT Sans Regular" charset="-52"/>
              </a:rPr>
            </a:br>
            <a:r>
              <a:rPr lang="ru-RU" sz="1400" dirty="0">
                <a:ea typeface="PT Sans Regular" charset="-52"/>
                <a:cs typeface="PT Sans Regular" charset="-52"/>
              </a:rPr>
              <a:t>(</a:t>
            </a:r>
            <a:r>
              <a:rPr lang="ru-RU" sz="1400" dirty="0" err="1">
                <a:ea typeface="PT Sans Regular" charset="-52"/>
                <a:cs typeface="PT Sans Regular" charset="-52"/>
              </a:rPr>
              <a:t>Supply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Chain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and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Request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Управление финансовыми активами (</a:t>
            </a:r>
            <a:r>
              <a:rPr lang="ru-RU" sz="1400" dirty="0" err="1">
                <a:ea typeface="PT Sans Regular" charset="-52"/>
                <a:cs typeface="PT Sans Regular" charset="-52"/>
              </a:rPr>
              <a:t>Financial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Asset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Управление обслуживанием и персоналом</a:t>
            </a:r>
            <a:br>
              <a:rPr lang="en-US" sz="1400" dirty="0">
                <a:ea typeface="PT Sans Regular" charset="-52"/>
                <a:cs typeface="PT Sans Regular" charset="-52"/>
              </a:rPr>
            </a:br>
            <a:r>
              <a:rPr lang="ru-RU" sz="1400" dirty="0">
                <a:ea typeface="PT Sans Regular" charset="-52"/>
                <a:cs typeface="PT Sans Regular" charset="-52"/>
              </a:rPr>
              <a:t>(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Maintenance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and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Service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Управление страховыми выплатами (</a:t>
            </a:r>
            <a:r>
              <a:rPr lang="ru-RU" sz="1400" dirty="0" err="1">
                <a:ea typeface="PT Sans Regular" charset="-52"/>
                <a:cs typeface="PT Sans Regular" charset="-52"/>
              </a:rPr>
              <a:t>Claim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Образование и Тренинги (</a:t>
            </a:r>
            <a:r>
              <a:rPr lang="ru-RU" sz="1400" dirty="0" err="1">
                <a:ea typeface="PT Sans Regular" charset="-52"/>
                <a:cs typeface="PT Sans Regular" charset="-52"/>
              </a:rPr>
              <a:t>Course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,</a:t>
            </a:r>
            <a:br>
              <a:rPr lang="en-US" sz="1400" dirty="0">
                <a:ea typeface="PT Sans Regular" charset="-52"/>
                <a:cs typeface="PT Sans Regular" charset="-52"/>
              </a:rPr>
            </a:br>
            <a:r>
              <a:rPr lang="ru-RU" sz="1400" dirty="0" err="1">
                <a:ea typeface="PT Sans Regular" charset="-52"/>
                <a:cs typeface="PT Sans Regular" charset="-52"/>
              </a:rPr>
              <a:t>Training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Session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Management</a:t>
            </a:r>
            <a:r>
              <a:rPr lang="ru-RU" sz="1400" dirty="0">
                <a:ea typeface="PT Sans Regular" charset="-52"/>
                <a:cs typeface="PT Sans Regular" charset="-52"/>
              </a:rPr>
              <a:t>)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CRM (от продажи до доставки), SRM (поставщики), MDM</a:t>
            </a:r>
            <a:endParaRPr lang="en-US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и многие другие …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00" y="334800"/>
            <a:ext cx="1080000" cy="156276"/>
          </a:xfrm>
          <a:prstGeom prst="rect">
            <a:avLst/>
          </a:prstGeom>
        </p:spPr>
      </p:pic>
      <p:grpSp>
        <p:nvGrpSpPr>
          <p:cNvPr id="7" name="Group 1">
            <a:extLst>
              <a:ext uri="{FF2B5EF4-FFF2-40B4-BE49-F238E27FC236}">
                <a16:creationId xmlns:a16="http://schemas.microsoft.com/office/drawing/2014/main" id="{D8A1C78D-1F3A-F144-B328-8F3AC4001192}"/>
              </a:ext>
            </a:extLst>
          </p:cNvPr>
          <p:cNvGrpSpPr/>
          <p:nvPr/>
        </p:nvGrpSpPr>
        <p:grpSpPr>
          <a:xfrm>
            <a:off x="191344" y="764704"/>
            <a:ext cx="3380863" cy="5544616"/>
            <a:chOff x="334800" y="764704"/>
            <a:chExt cx="3380863" cy="5544616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96064BED-5880-C8C2-662A-603D780EA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4800" y="764704"/>
              <a:ext cx="3380863" cy="5544616"/>
            </a:xfrm>
            <a:prstGeom prst="rect">
              <a:avLst/>
            </a:prstGeom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CB6ECD91-E4C4-844E-829A-18CA022CE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54023" y="5542712"/>
              <a:ext cx="1422276" cy="694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4123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0684" y="0"/>
            <a:ext cx="8461734" cy="536225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-60684" y="4581524"/>
            <a:ext cx="12252683" cy="2276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112125" y="0"/>
            <a:ext cx="40798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4963" y="2648513"/>
            <a:ext cx="4798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/>
            <a:r>
              <a:rPr lang="bg-BG" sz="3600" b="1" dirty="0">
                <a:ea typeface="PT Sans Regular" charset="-52"/>
                <a:cs typeface="PT Sans Regular" charset="-52"/>
              </a:rPr>
              <a:t>СПАСИБО</a:t>
            </a:r>
            <a:endParaRPr lang="en-US" sz="3600" b="1" dirty="0">
              <a:ea typeface="PT Sans Regular" charset="-52"/>
              <a:cs typeface="PT Sans Regular" charset="-52"/>
            </a:endParaRPr>
          </a:p>
          <a:p>
            <a:pPr marL="14288"/>
            <a:r>
              <a:rPr lang="bg-BG" sz="3600" b="1" dirty="0">
                <a:ea typeface="PT Sans Regular" charset="-52"/>
                <a:cs typeface="PT Sans Regular" charset="-52"/>
              </a:rPr>
              <a:t>ЗА ВНИМАНИЕ</a:t>
            </a:r>
            <a:endParaRPr lang="en-US" sz="3600" b="1" dirty="0">
              <a:ea typeface="PT Sans Regular" charset="-52"/>
              <a:cs typeface="PT Sans Regular" charset="-5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401050" y="1221785"/>
            <a:ext cx="3455988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других историях внедрения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Comindware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Business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Application</a:t>
            </a:r>
            <a:r>
              <a:rPr lang="ru-RU" sz="1400" dirty="0">
                <a:ea typeface="PT Sans Regular" charset="-52"/>
                <a:cs typeface="PT Sans Regular" charset="-52"/>
              </a:rPr>
              <a:t>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Platform</a:t>
            </a:r>
            <a:endParaRPr lang="ru-RU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спиральном подходе к внедрению против </a:t>
            </a:r>
            <a:r>
              <a:rPr lang="ru-RU" sz="1400" dirty="0" err="1">
                <a:ea typeface="PT Sans Regular" charset="-52"/>
                <a:cs typeface="PT Sans Regular" charset="-52"/>
              </a:rPr>
              <a:t>waterfall</a:t>
            </a:r>
            <a:endParaRPr lang="ru-RU" sz="1400" dirty="0">
              <a:ea typeface="PT Sans Regular" charset="-52"/>
              <a:cs typeface="PT Sans Regular" charset="-52"/>
            </a:endParaRP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эволюционном развитии системы внутри компании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charset="2"/>
              <a:buChar char="ü"/>
            </a:pPr>
            <a:r>
              <a:rPr lang="ru-RU" sz="1400" dirty="0">
                <a:ea typeface="PT Sans Regular" charset="-52"/>
                <a:cs typeface="PT Sans Regular" charset="-52"/>
              </a:rPr>
              <a:t>BPM, BPMN 2.0 и оптимизации процессов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01050" y="333375"/>
            <a:ext cx="34559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ea typeface="PT Sans Regular" charset="-52"/>
                <a:cs typeface="PT Sans Regular" charset="-52"/>
              </a:rPr>
              <a:t>Я бы очень хотел </a:t>
            </a:r>
          </a:p>
          <a:p>
            <a:r>
              <a:rPr lang="ru-RU" dirty="0">
                <a:ea typeface="PT Sans Regular" charset="-52"/>
                <a:cs typeface="PT Sans Regular" charset="-52"/>
              </a:rPr>
              <a:t>рассказать ещё о:</a:t>
            </a:r>
            <a:endParaRPr lang="en-US" dirty="0">
              <a:ea typeface="PT Sans Regular" charset="-52"/>
              <a:cs typeface="PT Sans Regular" charset="-5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01049" y="3956854"/>
            <a:ext cx="341380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ea typeface="PT Sans Regular" charset="-52"/>
                <a:cs typeface="PT Sans Regular" charset="-52"/>
              </a:rPr>
              <a:t>Но на всё это сейчас не хватит времени.</a:t>
            </a:r>
          </a:p>
          <a:p>
            <a:endParaRPr lang="ru-RU" sz="1400" dirty="0">
              <a:ea typeface="PT Sans Regular" charset="-52"/>
              <a:cs typeface="PT Sans Regular" charset="-52"/>
            </a:endParaRPr>
          </a:p>
          <a:p>
            <a:r>
              <a:rPr lang="ru-RU" sz="1400" dirty="0">
                <a:ea typeface="PT Sans Regular" charset="-52"/>
                <a:cs typeface="PT Sans Regular" charset="-52"/>
              </a:rPr>
              <a:t>Давайте запланируем ещё одну встречу?</a:t>
            </a:r>
            <a:endParaRPr lang="en-US" sz="1400" dirty="0">
              <a:ea typeface="PT Sans Regular" charset="-52"/>
              <a:cs typeface="PT Sans Regular" charset="-5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20136" y="5706777"/>
            <a:ext cx="2787301" cy="646331"/>
          </a:xfrm>
          <a:prstGeom prst="rect">
            <a:avLst/>
          </a:prstGeom>
          <a:noFill/>
        </p:spPr>
        <p:txBody>
          <a:bodyPr wrap="none" lIns="0" rtlCol="0" anchor="ctr">
            <a:spAutoFit/>
          </a:bodyPr>
          <a:lstStyle/>
          <a:p>
            <a:r>
              <a:rPr lang="en-US" sz="1200" dirty="0">
                <a:ea typeface="PT Sans" charset="-52"/>
                <a:cs typeface="PT Sans" charset="-52"/>
              </a:rPr>
              <a:t>E-mail: </a:t>
            </a:r>
            <a:r>
              <a:rPr lang="en-US" sz="1200" u="sng" dirty="0">
                <a:solidFill>
                  <a:srgbClr val="409ED6"/>
                </a:solidFill>
                <a:ea typeface="PT Sans" charset="-52"/>
                <a:cs typeface="PT Sans" charset="-52"/>
                <a:hlinkClick r:id="rId4"/>
              </a:rPr>
              <a:t>Valery.Samarsky@comindware.com</a:t>
            </a:r>
            <a:endParaRPr lang="ru-RU" sz="1200" u="sng" dirty="0">
              <a:solidFill>
                <a:srgbClr val="409ED6"/>
              </a:solidFill>
              <a:ea typeface="PT Sans" charset="-52"/>
              <a:cs typeface="PT Sans" charset="-52"/>
            </a:endParaRPr>
          </a:p>
          <a:p>
            <a:r>
              <a:rPr lang="ru-RU" sz="1200" dirty="0">
                <a:ea typeface="PT Sans" charset="-52"/>
                <a:cs typeface="PT Sans" charset="-52"/>
              </a:rPr>
              <a:t>Тел.: </a:t>
            </a:r>
            <a:r>
              <a:rPr lang="is-IS" sz="1200" dirty="0">
                <a:ea typeface="PT Sans" charset="-52"/>
                <a:cs typeface="PT Sans" charset="-52"/>
              </a:rPr>
              <a:t>+7 (</a:t>
            </a:r>
            <a:r>
              <a:rPr lang="ru-RU" sz="1200" dirty="0">
                <a:ea typeface="PT Sans" charset="-52"/>
                <a:cs typeface="PT Sans" charset="-52"/>
              </a:rPr>
              <a:t>985</a:t>
            </a:r>
            <a:r>
              <a:rPr lang="is-IS" sz="1200" dirty="0">
                <a:ea typeface="PT Sans" charset="-52"/>
                <a:cs typeface="PT Sans" charset="-52"/>
              </a:rPr>
              <a:t>) 728-48-97</a:t>
            </a:r>
            <a:endParaRPr lang="ru-RU" sz="1200" dirty="0">
              <a:ea typeface="PT Sans" charset="-52"/>
              <a:cs typeface="PT Sans" charset="-52"/>
            </a:endParaRPr>
          </a:p>
          <a:p>
            <a:r>
              <a:rPr lang="tr-TR" sz="1200" dirty="0">
                <a:ea typeface="PT Sans" charset="-52"/>
                <a:cs typeface="PT Sans" charset="-52"/>
              </a:rPr>
              <a:t>Skype: valeriy.samarsky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0136" y="5157192"/>
            <a:ext cx="2770117" cy="553998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ru-RU" dirty="0">
                <a:solidFill>
                  <a:srgbClr val="000000"/>
                </a:solidFill>
                <a:ea typeface="PT Sans Regular" charset="-52"/>
                <a:cs typeface="PT Sans Regular" charset="-52"/>
              </a:rPr>
              <a:t>Валерий Самарский</a:t>
            </a:r>
          </a:p>
          <a:p>
            <a:r>
              <a:rPr lang="ru-RU" sz="1200" dirty="0">
                <a:solidFill>
                  <a:srgbClr val="000000"/>
                </a:solidFill>
                <a:ea typeface="PT Sans Regular" charset="-52"/>
                <a:cs typeface="PT Sans Regular" charset="-52"/>
              </a:rPr>
              <a:t>Директор проектного офиса Comindware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25631" y="3848842"/>
            <a:ext cx="1008112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965715"/>
            <a:ext cx="1573200" cy="15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76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8908</TotalTime>
  <Words>2556</Words>
  <Application>Microsoft Macintosh PowerPoint</Application>
  <PresentationFormat>Широкоэкранный</PresentationFormat>
  <Paragraphs>439</Paragraphs>
  <Slides>40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PT Sans Regular</vt:lpstr>
      <vt:lpstr>Trebuchet MS Regular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Igor Arkhipov</cp:lastModifiedBy>
  <cp:revision>552</cp:revision>
  <cp:lastPrinted>2020-02-04T07:22:06Z</cp:lastPrinted>
  <dcterms:created xsi:type="dcterms:W3CDTF">2019-02-22T12:39:41Z</dcterms:created>
  <dcterms:modified xsi:type="dcterms:W3CDTF">2022-07-06T10:08:41Z</dcterms:modified>
</cp:coreProperties>
</file>