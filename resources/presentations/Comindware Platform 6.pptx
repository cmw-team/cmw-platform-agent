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170" r:id="rId3"/>
    <p:sldId id="2171" r:id="rId4"/>
    <p:sldId id="2172" r:id="rId5"/>
    <p:sldId id="2173" r:id="rId6"/>
    <p:sldId id="2168" r:id="rId7"/>
    <p:sldId id="2180" r:id="rId8"/>
    <p:sldId id="2175" r:id="rId9"/>
    <p:sldId id="2177" r:id="rId10"/>
    <p:sldId id="2174" r:id="rId11"/>
    <p:sldId id="2167" r:id="rId12"/>
    <p:sldId id="2178" r:id="rId13"/>
    <p:sldId id="2176" r:id="rId14"/>
    <p:sldId id="2179" r:id="rId15"/>
    <p:sldId id="2181" r:id="rId16"/>
    <p:sldId id="2182" r:id="rId17"/>
    <p:sldId id="2169" r:id="rId18"/>
    <p:sldId id="2183" r:id="rId19"/>
    <p:sldId id="2184" r:id="rId20"/>
    <p:sldId id="2194" r:id="rId21"/>
    <p:sldId id="2185" r:id="rId22"/>
    <p:sldId id="2193" r:id="rId23"/>
    <p:sldId id="1467" r:id="rId24"/>
    <p:sldId id="2186" r:id="rId25"/>
    <p:sldId id="2188" r:id="rId26"/>
    <p:sldId id="2187" r:id="rId27"/>
    <p:sldId id="2189" r:id="rId28"/>
    <p:sldId id="2190" r:id="rId29"/>
    <p:sldId id="2191" r:id="rId30"/>
    <p:sldId id="2192" r:id="rId3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570">
          <p15:clr>
            <a:srgbClr val="A4A3A4"/>
          </p15:clr>
        </p15:guide>
        <p15:guide id="2" orient="horz" pos="210">
          <p15:clr>
            <a:srgbClr val="A4A3A4"/>
          </p15:clr>
        </p15:guide>
        <p15:guide id="3" orient="horz" pos="1434">
          <p15:clr>
            <a:srgbClr val="A4A3A4"/>
          </p15:clr>
        </p15:guide>
        <p15:guide id="4" orient="horz" pos="1207">
          <p15:clr>
            <a:srgbClr val="A4A3A4"/>
          </p15:clr>
        </p15:guide>
        <p15:guide id="5" orient="horz" pos="1661">
          <p15:clr>
            <a:srgbClr val="A4A3A4"/>
          </p15:clr>
        </p15:guide>
        <p15:guide id="6" orient="horz" pos="2886">
          <p15:clr>
            <a:srgbClr val="A4A3A4"/>
          </p15:clr>
        </p15:guide>
        <p15:guide id="7" orient="horz" pos="2636">
          <p15:clr>
            <a:srgbClr val="A4A3A4"/>
          </p15:clr>
        </p15:guide>
        <p15:guide id="8" orient="horz" pos="3113">
          <p15:clr>
            <a:srgbClr val="A4A3A4"/>
          </p15:clr>
        </p15:guide>
        <p15:guide id="9" orient="horz" pos="4110">
          <p15:clr>
            <a:srgbClr val="A4A3A4"/>
          </p15:clr>
        </p15:guide>
        <p15:guide id="10" pos="2366">
          <p15:clr>
            <a:srgbClr val="A4A3A4"/>
          </p15:clr>
        </p15:guide>
        <p15:guide id="11" pos="2797">
          <p15:clr>
            <a:srgbClr val="A4A3A4"/>
          </p15:clr>
        </p15:guide>
        <p15:guide id="12" pos="5110">
          <p15:clr>
            <a:srgbClr val="A4A3A4"/>
          </p15:clr>
        </p15:guide>
        <p15:guide id="13" pos="4883">
          <p15:clr>
            <a:srgbClr val="A4A3A4"/>
          </p15:clr>
        </p15:guide>
        <p15:guide id="14" pos="5337">
          <p15:clr>
            <a:srgbClr val="A4A3A4"/>
          </p15:clr>
        </p15:guide>
        <p15:guide id="15" pos="211">
          <p15:clr>
            <a:srgbClr val="A4A3A4"/>
          </p15:clr>
        </p15:guide>
        <p15:guide id="16" pos="7469">
          <p15:clr>
            <a:srgbClr val="A4A3A4"/>
          </p15:clr>
        </p15:guide>
        <p15:guide id="17" orient="horz" pos="436">
          <p15:clr>
            <a:srgbClr val="A4A3A4"/>
          </p15:clr>
        </p15:guide>
        <p15:guide id="18" orient="horz" pos="390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0B9E83-1EEE-9E73-6603-2A831EEED8E3}" name="Koval, Alexander (CCO)" initials="AK" userId="S::Al.Koval@slcloud.onmicrosoft.com::1dd7dd03-a069-47fd-8c0b-dfde351501b7" providerId="AD"/>
  <p188:author id="{71B784B1-F162-7ECD-9A40-824F3C3EC705}" name="Александр Коваль" initials="АК" userId="2137021b213f9a9f" providerId="Windows Live"/>
  <p188:author id="{B42DA7F7-6F3A-B361-CB92-102F7A46E28D}" name="Natalya Karmanovskaya" initials="NK" userId="S-1-5-21-3440071466-1413898663-3586032999-86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Carm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11" autoAdjust="0"/>
    <p:restoredTop sz="94720"/>
  </p:normalViewPr>
  <p:slideViewPr>
    <p:cSldViewPr snapToGrid="0">
      <p:cViewPr varScale="1">
        <p:scale>
          <a:sx n="69" d="100"/>
          <a:sy n="69" d="100"/>
        </p:scale>
        <p:origin x="1068" y="78"/>
      </p:cViewPr>
      <p:guideLst>
        <p:guide pos="2570"/>
        <p:guide orient="horz" pos="210"/>
        <p:guide orient="horz" pos="1434"/>
        <p:guide orient="horz" pos="1207"/>
        <p:guide orient="horz" pos="1661"/>
        <p:guide orient="horz" pos="2886"/>
        <p:guide orient="horz" pos="2636"/>
        <p:guide orient="horz" pos="3113"/>
        <p:guide orient="horz" pos="4110"/>
        <p:guide pos="2366"/>
        <p:guide pos="2797"/>
        <p:guide pos="5110"/>
        <p:guide pos="4883"/>
        <p:guide pos="5337"/>
        <p:guide pos="211"/>
        <p:guide pos="7469"/>
        <p:guide orient="horz" pos="436"/>
        <p:guide orient="horz" pos="390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" panose="020F0502020204030204" pitchFamily="34" charset="0"/>
                <a:cs typeface="Calibri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" panose="020F0502020204030204" pitchFamily="34" charset="0"/>
                <a:cs typeface="Calibri"/>
              </a:defRPr>
            </a:lvl1pPr>
          </a:lstStyle>
          <a:p>
            <a:pPr>
              <a:defRPr/>
            </a:pPr>
            <a:fld id="{21B599AC-3BB5-49F3-9044-0A5074458F2D}" type="datetimeFigureOut">
              <a:rPr lang="en-US" smtClean="0"/>
              <a:pPr>
                <a:defRPr/>
              </a:pPr>
              <a:t>7/8/2026</a:t>
            </a:fld>
            <a:endParaRPr lang="en-US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" panose="020F0502020204030204" pitchFamily="34" charset="0"/>
                <a:cs typeface="Calibri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" panose="020F0502020204030204" pitchFamily="34" charset="0"/>
                <a:cs typeface="Calibri"/>
              </a:defRPr>
            </a:lvl1pPr>
          </a:lstStyle>
          <a:p>
            <a:pPr>
              <a:defRPr/>
            </a:pPr>
            <a:fld id="{59140AA4-C381-46C1-89E6-E830ABF02F7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 b="0" i="0">
        <a:solidFill>
          <a:schemeClr val="tx1"/>
        </a:solidFill>
        <a:latin typeface="Calibri" panose="020F0502020204030204" pitchFamily="34" charset="0"/>
        <a:ea typeface="+mn-ea"/>
        <a:cs typeface="Calibr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B7AB481-98AA-9347-BA28-96D012ECFEC7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16372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23961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47367155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5D79281-1D81-59B6-7F46-65BB5DFEBB2F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598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1989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61222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dirty="0">
              <a:ea typeface="PT Sans Regular"/>
              <a:cs typeface="Calibri"/>
            </a:endParaRPr>
          </a:p>
        </p:txBody>
      </p:sp>
      <p:sp>
        <p:nvSpPr>
          <p:cNvPr id="121875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C4F287-8ABE-76BA-E052-D77DE95B98CF}" type="slidenum">
              <a:rPr lang="en-US"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16372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23961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47367155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5D79281-1D81-59B6-7F46-65BB5DFEBB2F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850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16372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23961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47367155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5D79281-1D81-59B6-7F46-65BB5DFEBB2F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48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16372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23961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47367155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5D79281-1D81-59B6-7F46-65BB5DFEBB2F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52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16372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23961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47367155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5D79281-1D81-59B6-7F46-65BB5DFEBB2F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162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50934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https://</a:t>
            </a:r>
            <a:r>
              <a:rPr lang="en-US" dirty="0" err="1"/>
              <a:t>www.pwc.com</a:t>
            </a:r>
            <a:r>
              <a:rPr lang="en-US" dirty="0"/>
              <a:t>/us/</a:t>
            </a:r>
            <a:r>
              <a:rPr lang="en-US" dirty="0" err="1"/>
              <a:t>en</a:t>
            </a:r>
            <a:r>
              <a:rPr lang="en-US" dirty="0"/>
              <a:t>/library/pulse-survey/executive-views-2022.html</a:t>
            </a:r>
            <a:endParaRPr dirty="0"/>
          </a:p>
        </p:txBody>
      </p:sp>
      <p:sp>
        <p:nvSpPr>
          <p:cNvPr id="6423331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D25DDB-7AF4-251C-FA85-18F046A4217E}" type="slidenum">
              <a:rPr/>
              <a:t>8</a:t>
            </a:fld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76343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4503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53596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6080C6-886D-0F07-B278-713B8B3E31E7}" type="slidenum">
              <a:rPr/>
              <a:t>9</a:t>
            </a:fld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66945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3887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91080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2C3D0C-E777-36EE-4E99-92413FF4AFAA}" type="slidenum">
              <a:rPr/>
              <a:t>10</a:t>
            </a:fld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4C3C98-152B-D6D1-F128-96027369C827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6613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50934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https://www.pwc.com/us/en/library/pulse-survey/executive-views-2022.html</a:t>
            </a:r>
            <a:endParaRPr dirty="0"/>
          </a:p>
        </p:txBody>
      </p:sp>
      <p:sp>
        <p:nvSpPr>
          <p:cNvPr id="6423331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D25DDB-7AF4-251C-FA85-18F046A4217E}" type="slidenum">
              <a:rPr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9688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01710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31327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94061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200BDD-7631-9398-1F8F-E2A35F58BD3D}" type="slidenum">
              <a:rPr/>
              <a:t>13</a:t>
            </a:fld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50934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https://www.pwc.com/us/en/library/pulse-survey/executive-views-2022.html</a:t>
            </a:r>
            <a:endParaRPr dirty="0"/>
          </a:p>
        </p:txBody>
      </p:sp>
      <p:sp>
        <p:nvSpPr>
          <p:cNvPr id="6423331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D25DDB-7AF4-251C-FA85-18F046A4217E}" type="slidenum">
              <a:rPr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53235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4C3C98-152B-D6D1-F128-96027369C827}" type="slidenum">
              <a:rPr/>
              <a:t>15</a:t>
            </a:fld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16372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23961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47367155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5D79281-1D81-59B6-7F46-65BB5DFEBB2F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560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4C3C98-152B-D6D1-F128-96027369C827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8185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4C3C98-152B-D6D1-F128-96027369C827}" type="slidenum">
              <a:rPr/>
              <a:t>18</a:t>
            </a:fld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10574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81877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869604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49AF91-12EA-864B-2F4B-89585B5BA345}" type="slidenum">
              <a:rPr/>
              <a:t>19</a:t>
            </a:fld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B7AB481-98AA-9347-BA28-96D012ECFEC7}" type="slidenum">
              <a:rPr lang="en-US"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4C3C98-152B-D6D1-F128-96027369C827}" type="slidenum">
              <a:rPr/>
              <a:t>21</a:t>
            </a:fld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4C3C98-152B-D6D1-F128-96027369C827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81142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A20C2-4C02-4AD9-C3C0-96954D4C04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E5576-6228-7093-2401-C7B9A1720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112FF-5AE9-9237-5442-505B679BE2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66E7B-B597-6AA2-1150-652E8A069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391228-7545-0F2F-C093-F671C5E321C5}" type="slidenum">
              <a:rPr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33454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B7AB481-98AA-9347-BA28-96D012ECFEC7}" type="slidenum">
              <a:rPr lang="en-US"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4C3C98-152B-D6D1-F128-96027369C827}" type="slidenum">
              <a:rPr/>
              <a:t>25</a:t>
            </a:fld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4C3C98-152B-D6D1-F128-96027369C827}" type="slidenum">
              <a:rPr/>
              <a:t>26</a:t>
            </a:fld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1800E-D3D2-6AB4-B2A8-C0DB8457FDA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4D740-EDF2-AB6E-00BE-D0D82EA79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73F51-6B34-F62B-4619-9F964CEE20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C89BF-75C9-4E42-5544-49EECED49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391228-7545-0F2F-C093-F671C5E321C5}" type="slidenum">
              <a:rPr/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58177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1800E-D3D2-6AB4-B2A8-C0DB8457FDA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4D740-EDF2-AB6E-00BE-D0D82EA79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73F51-6B34-F62B-4619-9F964CEE20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C89BF-75C9-4E42-5544-49EECED49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391228-7545-0F2F-C093-F671C5E321C5}" type="slidenum">
              <a:rPr/>
              <a:t>28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20664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1800E-D3D2-6AB4-B2A8-C0DB8457FDA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4D740-EDF2-AB6E-00BE-D0D82EA79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73F51-6B34-F62B-4619-9F964CEE20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C89BF-75C9-4E42-5544-49EECED49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391228-7545-0F2F-C093-F671C5E321C5}" type="slidenum">
              <a:rPr/>
              <a:t>29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36865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1800E-D3D2-6AB4-B2A8-C0DB8457FDA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4D740-EDF2-AB6E-00BE-D0D82EA79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73F51-6B34-F62B-4619-9F964CEE20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C89BF-75C9-4E42-5544-49EECED49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391228-7545-0F2F-C093-F671C5E321C5}" type="slidenum">
              <a:rPr/>
              <a:t>30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207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 b="0" i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 b="0" i="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CC18F51-09EC-435C-A3BA-64A766E099C0}" type="datetimeFigureOut">
              <a:rPr lang="en-BY"/>
              <a:t>07/08/2026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CC18F51-09EC-435C-A3BA-64A766E099C0}" type="datetimeFigureOut">
              <a:rPr lang="en-BY"/>
              <a:t>07/08/2026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 b="0" i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CC18F51-09EC-435C-A3BA-64A766E099C0}" type="datetimeFigureOut">
              <a:rPr lang="en-BY"/>
              <a:t>07/08/2026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CC18F51-09EC-435C-A3BA-64A766E099C0}" type="datetimeFigureOut">
              <a:rPr lang="en-BY"/>
              <a:t>07/08/2026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950C47-2B64-25D5-364E-742F008E3F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334963" y="333375"/>
            <a:ext cx="1080000" cy="1562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9E74176-C0C1-CFEC-8550-DF7C05CEDD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334963" y="333375"/>
            <a:ext cx="1080000" cy="156276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 b="0" i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 b="0" i="0"/>
            </a:lvl1pPr>
            <a:lvl2pPr>
              <a:defRPr sz="2100" b="0" i="0"/>
            </a:lvl2pPr>
            <a:lvl3pPr>
              <a:defRPr sz="1800" b="0" i="0"/>
            </a:lvl3pPr>
            <a:lvl4pPr>
              <a:defRPr sz="1500" b="0" i="0"/>
            </a:lvl4pPr>
            <a:lvl5pPr>
              <a:defRPr sz="1500" b="0" i="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 b="0" i="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CC18F51-09EC-435C-A3BA-64A766E099C0}" type="datetimeFigureOut">
              <a:rPr lang="en-BY"/>
              <a:t>07/08/2026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 b="0" i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 b="0" i="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 b="0" i="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CC18F51-09EC-435C-A3BA-64A766E099C0}" type="datetimeFigureOut">
              <a:rPr lang="en-BY"/>
              <a:t>07/08/2026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CC18F51-09EC-435C-A3BA-64A766E099C0}" type="datetimeFigureOut">
              <a:rPr lang="en-BY"/>
              <a:t>07/08/2026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>
            <a:lvl1pPr>
              <a:defRPr b="0" i="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CC18F51-09EC-435C-A3BA-64A766E099C0}" type="datetimeFigureOut">
              <a:rPr lang="en-BY"/>
              <a:t>07/08/2026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dirty="0"/>
              <a:t>Click to edit Master text styles</a:t>
            </a:r>
          </a:p>
          <a:p>
            <a:pPr lvl="1">
              <a:defRPr/>
            </a:pPr>
            <a:r>
              <a:rPr dirty="0"/>
              <a:t>Second level</a:t>
            </a:r>
          </a:p>
          <a:p>
            <a:pPr lvl="2">
              <a:defRPr/>
            </a:pPr>
            <a:r>
              <a:rPr dirty="0"/>
              <a:t>Third level</a:t>
            </a:r>
          </a:p>
          <a:p>
            <a:pPr lvl="3">
              <a:defRPr/>
            </a:pPr>
            <a:r>
              <a:rPr dirty="0"/>
              <a:t>Fourth level</a:t>
            </a:r>
          </a:p>
          <a:p>
            <a:pPr lvl="4">
              <a:defRPr/>
            </a:pPr>
            <a:r>
              <a:rPr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/>
              </a:defRPr>
            </a:lvl1pPr>
          </a:lstStyle>
          <a:p>
            <a:pPr>
              <a:defRPr/>
            </a:pPr>
            <a:fld id="{BCC18F51-09EC-435C-A3BA-64A766E099C0}" type="datetimeFigureOut">
              <a:rPr lang="en-BY" smtClean="0"/>
              <a:pPr>
                <a:defRPr/>
              </a:pPr>
              <a:t>07/08/2026</a:t>
            </a:fld>
            <a:endParaRPr lang="en-B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/>
              </a:defRPr>
            </a:lvl1pPr>
          </a:lstStyle>
          <a:p>
            <a:pPr>
              <a:defRPr/>
            </a:pPr>
            <a:endParaRPr lang="en-BY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/>
              </a:defRPr>
            </a:lvl1pPr>
          </a:lstStyle>
          <a:p>
            <a:pPr>
              <a:defRPr/>
            </a:pPr>
            <a:fld id="{08395586-F03A-48D1-94DF-16B239DF4FB5}" type="slidenum">
              <a:rPr lang="en-BY" smtClean="0"/>
              <a:pPr>
                <a:defRPr/>
              </a:pPr>
              <a:t>‹#›</a:t>
            </a:fld>
            <a:endParaRPr lang="en-BY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685800">
        <a:lnSpc>
          <a:spcPct val="90000"/>
        </a:lnSpc>
        <a:spcBef>
          <a:spcPts val="0"/>
        </a:spcBef>
        <a:buNone/>
        <a:defRPr sz="3300" b="0" i="0">
          <a:solidFill>
            <a:schemeClr val="tx1"/>
          </a:solidFill>
          <a:latin typeface="Calibri" panose="020F0502020204030204" pitchFamily="34" charset="0"/>
          <a:ea typeface="+mj-ea"/>
          <a:cs typeface="Calibri"/>
        </a:defRPr>
      </a:lvl1pPr>
    </p:titleStyle>
    <p:bodyStyle>
      <a:lvl1pPr marL="171450" indent="-171450" algn="l" defTabSz="685800">
        <a:lnSpc>
          <a:spcPct val="90000"/>
        </a:lnSpc>
        <a:spcBef>
          <a:spcPts val="749"/>
        </a:spcBef>
        <a:buFont typeface="Arial"/>
        <a:buChar char="•"/>
        <a:defRPr sz="2100" b="0" i="0">
          <a:solidFill>
            <a:schemeClr val="tx1"/>
          </a:solidFill>
          <a:latin typeface="Calibri" panose="020F0502020204030204" pitchFamily="34" charset="0"/>
          <a:ea typeface="+mn-ea"/>
          <a:cs typeface="Calibri"/>
        </a:defRPr>
      </a:lvl1pPr>
      <a:lvl2pPr marL="5143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800" b="0" i="0">
          <a:solidFill>
            <a:schemeClr val="tx1"/>
          </a:solidFill>
          <a:latin typeface="Calibri" panose="020F0502020204030204" pitchFamily="34" charset="0"/>
          <a:ea typeface="+mn-ea"/>
          <a:cs typeface="Calibri"/>
        </a:defRPr>
      </a:lvl2pPr>
      <a:lvl3pPr marL="8572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500" b="0" i="0">
          <a:solidFill>
            <a:schemeClr val="tx1"/>
          </a:solidFill>
          <a:latin typeface="Calibri" panose="020F0502020204030204" pitchFamily="34" charset="0"/>
          <a:ea typeface="+mn-ea"/>
          <a:cs typeface="Calibri"/>
        </a:defRPr>
      </a:lvl3pPr>
      <a:lvl4pPr marL="12001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 b="0" i="0">
          <a:solidFill>
            <a:schemeClr val="tx1"/>
          </a:solidFill>
          <a:latin typeface="Calibri" panose="020F0502020204030204" pitchFamily="34" charset="0"/>
          <a:ea typeface="+mn-ea"/>
          <a:cs typeface="Calibri"/>
        </a:defRPr>
      </a:lvl4pPr>
      <a:lvl5pPr marL="15430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 b="0" i="0">
          <a:solidFill>
            <a:schemeClr val="tx1"/>
          </a:solidFill>
          <a:latin typeface="Calibri" panose="020F0502020204030204" pitchFamily="34" charset="0"/>
          <a:ea typeface="+mn-ea"/>
          <a:cs typeface="Calibri"/>
        </a:defRPr>
      </a:lvl5pPr>
      <a:lvl6pPr marL="18859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9" Type="http://schemas.openxmlformats.org/officeDocument/2006/relationships/image" Target="../media/image69.png"/><Relationship Id="rId21" Type="http://schemas.openxmlformats.org/officeDocument/2006/relationships/image" Target="../media/image51.png"/><Relationship Id="rId34" Type="http://schemas.openxmlformats.org/officeDocument/2006/relationships/image" Target="../media/image64.png"/><Relationship Id="rId42" Type="http://schemas.openxmlformats.org/officeDocument/2006/relationships/image" Target="../media/image7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41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32" Type="http://schemas.openxmlformats.org/officeDocument/2006/relationships/image" Target="../media/image62.png"/><Relationship Id="rId37" Type="http://schemas.openxmlformats.org/officeDocument/2006/relationships/image" Target="../media/image67.png"/><Relationship Id="rId40" Type="http://schemas.openxmlformats.org/officeDocument/2006/relationships/image" Target="../media/image70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36" Type="http://schemas.openxmlformats.org/officeDocument/2006/relationships/image" Target="../media/image66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31" Type="http://schemas.openxmlformats.org/officeDocument/2006/relationships/image" Target="../media/image61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Relationship Id="rId35" Type="http://schemas.openxmlformats.org/officeDocument/2006/relationships/image" Target="../media/image65.png"/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5.jpg"/><Relationship Id="rId4" Type="http://schemas.openxmlformats.org/officeDocument/2006/relationships/image" Target="../media/image7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3" Type="http://schemas.openxmlformats.org/officeDocument/2006/relationships/image" Target="../media/image105.png"/><Relationship Id="rId21" Type="http://schemas.openxmlformats.org/officeDocument/2006/relationships/image" Target="../media/image123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33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10" Type="http://schemas.openxmlformats.org/officeDocument/2006/relationships/image" Target="../media/image145.png"/><Relationship Id="rId4" Type="http://schemas.openxmlformats.org/officeDocument/2006/relationships/image" Target="../media/image126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7.png"/><Relationship Id="rId7" Type="http://schemas.openxmlformats.org/officeDocument/2006/relationships/image" Target="../media/image39.png"/><Relationship Id="rId12" Type="http://schemas.openxmlformats.org/officeDocument/2006/relationships/image" Target="../media/image1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0" Type="http://schemas.openxmlformats.org/officeDocument/2006/relationships/image" Target="../media/image43.png"/><Relationship Id="rId4" Type="http://schemas.openxmlformats.org/officeDocument/2006/relationships/image" Target="../media/image40.png"/><Relationship Id="rId9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6.jpg"/><Relationship Id="rId4" Type="http://schemas.openxmlformats.org/officeDocument/2006/relationships/image" Target="../media/image155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svg"/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0.svg"/><Relationship Id="rId5" Type="http://schemas.openxmlformats.org/officeDocument/2006/relationships/image" Target="../media/image159.png"/><Relationship Id="rId4" Type="http://schemas.openxmlformats.org/officeDocument/2006/relationships/image" Target="../media/image158.svg"/><Relationship Id="rId9" Type="http://schemas.openxmlformats.org/officeDocument/2006/relationships/image" Target="../media/image1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7812" b="7811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E90AF4-94E7-4B02-A159-BD2BF97AD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auto">
          <a:xfrm>
            <a:off x="0" y="1"/>
            <a:ext cx="12192000" cy="688516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dirty="0"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243D71-8622-4730-BA73-74BD7B7CEF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1828" y="2500889"/>
            <a:ext cx="6388344" cy="18562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633850" name="TextBox 8"/>
          <p:cNvSpPr txBox="1"/>
          <p:nvPr/>
        </p:nvSpPr>
        <p:spPr bwMode="auto">
          <a:xfrm>
            <a:off x="334963" y="709200"/>
            <a:ext cx="5103166" cy="55489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PT Sans"/>
                <a:ea typeface="PT Sans Regular"/>
                <a:cs typeface="Calibri"/>
              </a:defRPr>
            </a:lvl1pPr>
          </a:lstStyle>
          <a:p>
            <a:r>
              <a:rPr lang="ru-RU" dirty="0">
                <a:latin typeface="Calibri" panose="020F0502020204030204" pitchFamily="34" charset="0"/>
              </a:rPr>
              <a:t>Давайте познакомимся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28A3688C-C9AB-4EC6-B0B7-DD51745C3936}"/>
              </a:ext>
            </a:extLst>
          </p:cNvPr>
          <p:cNvSpPr txBox="1"/>
          <p:nvPr/>
        </p:nvSpPr>
        <p:spPr bwMode="auto">
          <a:xfrm>
            <a:off x="5005301" y="1915032"/>
            <a:ext cx="8580030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Расскажите о себе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D8161885-2F94-41A7-AC46-A621303D7566}"/>
              </a:ext>
            </a:extLst>
          </p:cNvPr>
          <p:cNvSpPr txBox="1"/>
          <p:nvPr/>
        </p:nvSpPr>
        <p:spPr bwMode="auto">
          <a:xfrm>
            <a:off x="334963" y="4931010"/>
            <a:ext cx="3421062" cy="749629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Предлагаем обсудить ваши цели и задачи, чтобы спроектировать для вас максимально точное предложение. </a:t>
            </a:r>
          </a:p>
        </p:txBody>
      </p:sp>
      <p:pic>
        <p:nvPicPr>
          <p:cNvPr id="10" name="Рисунок 9" descr="Рукопожатие">
            <a:extLst>
              <a:ext uri="{FF2B5EF4-FFF2-40B4-BE49-F238E27FC236}">
                <a16:creationId xmlns:a16="http://schemas.microsoft.com/office/drawing/2014/main" id="{C65EADD1-864E-45C1-B44F-4539CC97F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4440238" y="1962798"/>
            <a:ext cx="360000" cy="360000"/>
          </a:xfrm>
          <a:prstGeom prst="rect">
            <a:avLst/>
          </a:prstGeom>
        </p:spPr>
      </p:pic>
      <p:pic>
        <p:nvPicPr>
          <p:cNvPr id="11" name="Рисунок 10" descr="Лупа">
            <a:extLst>
              <a:ext uri="{FF2B5EF4-FFF2-40B4-BE49-F238E27FC236}">
                <a16:creationId xmlns:a16="http://schemas.microsoft.com/office/drawing/2014/main" id="{7232F2D8-35DB-4F05-8B37-9BEEED7621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auto">
          <a:xfrm>
            <a:off x="4440238" y="2676545"/>
            <a:ext cx="360000" cy="360000"/>
          </a:xfrm>
          <a:prstGeom prst="rect">
            <a:avLst/>
          </a:prstGeom>
        </p:spPr>
      </p:pic>
      <p:pic>
        <p:nvPicPr>
          <p:cNvPr id="12" name="Рисунок 11" descr="Секундомер">
            <a:extLst>
              <a:ext uri="{FF2B5EF4-FFF2-40B4-BE49-F238E27FC236}">
                <a16:creationId xmlns:a16="http://schemas.microsoft.com/office/drawing/2014/main" id="{B637A2EF-E5D7-45C3-B8EA-0A925CBDF5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auto">
          <a:xfrm>
            <a:off x="4440238" y="4083636"/>
            <a:ext cx="360000" cy="360000"/>
          </a:xfrm>
          <a:prstGeom prst="rect">
            <a:avLst/>
          </a:prstGeom>
        </p:spPr>
      </p:pic>
      <p:pic>
        <p:nvPicPr>
          <p:cNvPr id="13" name="Рисунок 12" descr="Глаз">
            <a:extLst>
              <a:ext uri="{FF2B5EF4-FFF2-40B4-BE49-F238E27FC236}">
                <a16:creationId xmlns:a16="http://schemas.microsoft.com/office/drawing/2014/main" id="{4EFB5F73-8A27-427F-B504-8659ECB467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 bwMode="auto">
          <a:xfrm>
            <a:off x="4440238" y="5177270"/>
            <a:ext cx="360000" cy="360000"/>
          </a:xfrm>
          <a:prstGeom prst="rect">
            <a:avLst/>
          </a:prstGeom>
        </p:spPr>
      </p:pic>
      <p:sp>
        <p:nvSpPr>
          <p:cNvPr id="14" name="TextBox 23">
            <a:extLst>
              <a:ext uri="{FF2B5EF4-FFF2-40B4-BE49-F238E27FC236}">
                <a16:creationId xmlns:a16="http://schemas.microsoft.com/office/drawing/2014/main" id="{F2CAE66F-B990-418C-A1A9-9C3681DC279A}"/>
              </a:ext>
            </a:extLst>
          </p:cNvPr>
          <p:cNvSpPr txBox="1"/>
          <p:nvPr/>
        </p:nvSpPr>
        <p:spPr bwMode="auto">
          <a:xfrm>
            <a:off x="5005301" y="2657200"/>
            <a:ext cx="8580030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 фокусом на задачах</a:t>
            </a:r>
          </a:p>
        </p:txBody>
      </p:sp>
      <p:sp>
        <p:nvSpPr>
          <p:cNvPr id="15" name="TextBox 23">
            <a:extLst>
              <a:ext uri="{FF2B5EF4-FFF2-40B4-BE49-F238E27FC236}">
                <a16:creationId xmlns:a16="http://schemas.microsoft.com/office/drawing/2014/main" id="{D962C287-0465-4FC8-928F-3320EDACF7FB}"/>
              </a:ext>
            </a:extLst>
          </p:cNvPr>
          <p:cNvSpPr txBox="1"/>
          <p:nvPr/>
        </p:nvSpPr>
        <p:spPr bwMode="auto">
          <a:xfrm>
            <a:off x="5005301" y="4083636"/>
            <a:ext cx="8580030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Опыт и ожидания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2899A4E1-7160-4177-B99B-1CB3B6B3D5DC}"/>
              </a:ext>
            </a:extLst>
          </p:cNvPr>
          <p:cNvSpPr txBox="1"/>
          <p:nvPr/>
        </p:nvSpPr>
        <p:spPr bwMode="auto">
          <a:xfrm>
            <a:off x="5005301" y="5167938"/>
            <a:ext cx="8580030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Видение успеха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28C4A96A-DBFB-42BE-828A-13B6949FC9DB}"/>
              </a:ext>
            </a:extLst>
          </p:cNvPr>
          <p:cNvSpPr txBox="1"/>
          <p:nvPr/>
        </p:nvSpPr>
        <p:spPr bwMode="auto">
          <a:xfrm>
            <a:off x="5005301" y="3399368"/>
            <a:ext cx="6251712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Что важно улучшить в вашей работе в первую очередь?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4EB73392-2116-487A-A1BF-6B97A26F7D95}"/>
              </a:ext>
            </a:extLst>
          </p:cNvPr>
          <p:cNvSpPr txBox="1"/>
          <p:nvPr/>
        </p:nvSpPr>
        <p:spPr bwMode="auto">
          <a:xfrm>
            <a:off x="5005301" y="3741502"/>
            <a:ext cx="7846572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Какие последствия для бизнеса создают существующие проблемы?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0472E1C-7E98-4BF4-85BB-B7039C5D7B88}"/>
              </a:ext>
            </a:extLst>
          </p:cNvPr>
          <p:cNvSpPr txBox="1"/>
          <p:nvPr/>
        </p:nvSpPr>
        <p:spPr bwMode="auto">
          <a:xfrm>
            <a:off x="5005301" y="4825804"/>
            <a:ext cx="6102626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Есть ли определенные сроки внедрения решения?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40855A11-AC6A-4691-A5D8-000238901C8B}"/>
              </a:ext>
            </a:extLst>
          </p:cNvPr>
          <p:cNvSpPr txBox="1"/>
          <p:nvPr/>
        </p:nvSpPr>
        <p:spPr bwMode="auto">
          <a:xfrm>
            <a:off x="5005301" y="6129208"/>
            <a:ext cx="7878477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Есть ли у вас формализованное описание решения, техническое задание, требования?</a:t>
            </a:r>
          </a:p>
        </p:txBody>
      </p:sp>
      <p:sp>
        <p:nvSpPr>
          <p:cNvPr id="21" name="TextBox 27">
            <a:extLst>
              <a:ext uri="{FF2B5EF4-FFF2-40B4-BE49-F238E27FC236}">
                <a16:creationId xmlns:a16="http://schemas.microsoft.com/office/drawing/2014/main" id="{11540AE5-AE61-4712-964A-AE278D78DE02}"/>
              </a:ext>
            </a:extLst>
          </p:cNvPr>
          <p:cNvSpPr txBox="1"/>
          <p:nvPr/>
        </p:nvSpPr>
        <p:spPr bwMode="auto">
          <a:xfrm>
            <a:off x="5005301" y="2315066"/>
            <a:ext cx="8005001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Могли бы вы коротко рассказать о себе и компании, которую представляете?</a:t>
            </a:r>
          </a:p>
        </p:txBody>
      </p:sp>
      <p:sp>
        <p:nvSpPr>
          <p:cNvPr id="22" name="TextBox 28">
            <a:extLst>
              <a:ext uri="{FF2B5EF4-FFF2-40B4-BE49-F238E27FC236}">
                <a16:creationId xmlns:a16="http://schemas.microsoft.com/office/drawing/2014/main" id="{AAA968DC-EB13-411F-8B1C-310A6D6679F0}"/>
              </a:ext>
            </a:extLst>
          </p:cNvPr>
          <p:cNvSpPr txBox="1"/>
          <p:nvPr/>
        </p:nvSpPr>
        <p:spPr bwMode="auto">
          <a:xfrm>
            <a:off x="5005301" y="3057234"/>
            <a:ext cx="8859428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С какими сложностями в работе вам приходится сталкиваться?</a:t>
            </a:r>
          </a:p>
        </p:txBody>
      </p:sp>
      <p:sp>
        <p:nvSpPr>
          <p:cNvPr id="23" name="TextBox 29">
            <a:extLst>
              <a:ext uri="{FF2B5EF4-FFF2-40B4-BE49-F238E27FC236}">
                <a16:creationId xmlns:a16="http://schemas.microsoft.com/office/drawing/2014/main" id="{B84EC926-BA4D-4EEA-A0A0-4C23E60110F5}"/>
              </a:ext>
            </a:extLst>
          </p:cNvPr>
          <p:cNvSpPr txBox="1"/>
          <p:nvPr/>
        </p:nvSpPr>
        <p:spPr bwMode="auto">
          <a:xfrm>
            <a:off x="5005301" y="4483670"/>
            <a:ext cx="8147432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Были ли у вас ранее попытки решить эти проблемы? Как решали?</a:t>
            </a:r>
          </a:p>
        </p:txBody>
      </p:sp>
      <p:sp>
        <p:nvSpPr>
          <p:cNvPr id="24" name="TextBox 31">
            <a:extLst>
              <a:ext uri="{FF2B5EF4-FFF2-40B4-BE49-F238E27FC236}">
                <a16:creationId xmlns:a16="http://schemas.microsoft.com/office/drawing/2014/main" id="{E8B95871-5F4D-4FD0-8EFE-DA2ACC08EF03}"/>
              </a:ext>
            </a:extLst>
          </p:cNvPr>
          <p:cNvSpPr txBox="1"/>
          <p:nvPr/>
        </p:nvSpPr>
        <p:spPr bwMode="auto">
          <a:xfrm>
            <a:off x="5005301" y="5567972"/>
            <a:ext cx="6551613" cy="530530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Насколько для вас важна возможность настраивать решение без участия разработчиков, самостоятельно?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F7784A-6907-7DC3-D8C7-106E7654D4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4963" y="1436192"/>
            <a:ext cx="3421062" cy="34210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627B5A-3576-12E6-E7D8-898317E99F28}"/>
              </a:ext>
            </a:extLst>
          </p:cNvPr>
          <p:cNvSpPr txBox="1"/>
          <p:nvPr/>
        </p:nvSpPr>
        <p:spPr>
          <a:xfrm>
            <a:off x="1207555" y="2505670"/>
            <a:ext cx="19270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1" dirty="0">
                <a:latin typeface="Calibri" panose="020F0502020204030204" pitchFamily="34" charset="0"/>
                <a:cs typeface="Calibri" panose="020F0502020204030204" pitchFamily="34" charset="0"/>
              </a:rPr>
              <a:t>Лучшие решения рождаются</a:t>
            </a:r>
            <a:br>
              <a:rPr 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800" i="1" dirty="0">
                <a:latin typeface="Calibri" panose="020F0502020204030204" pitchFamily="34" charset="0"/>
                <a:cs typeface="Calibri" panose="020F0502020204030204" pitchFamily="34" charset="0"/>
              </a:rPr>
              <a:t>в диалоге. </a:t>
            </a:r>
            <a:endParaRPr lang="en-BY" i="1" dirty="0"/>
          </a:p>
        </p:txBody>
      </p:sp>
    </p:spTree>
    <p:extLst>
      <p:ext uri="{BB962C8B-B14F-4D97-AF65-F5344CB8AC3E}">
        <p14:creationId xmlns:p14="http://schemas.microsoft.com/office/powerpoint/2010/main" val="53966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314856" name="Rectangle 42"/>
          <p:cNvSpPr/>
          <p:nvPr/>
        </p:nvSpPr>
        <p:spPr bwMode="auto">
          <a:xfrm>
            <a:off x="5094017" y="1916113"/>
            <a:ext cx="6711045" cy="273921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№1 BPM-платформа на Gartner </a:t>
            </a:r>
            <a:r>
              <a:rPr lang="ru-RU" sz="1400" dirty="0" err="1">
                <a:latin typeface="Calibri" panose="020F0502020204030204" pitchFamily="34" charset="0"/>
                <a:ea typeface="PT Sans Regular"/>
                <a:cs typeface="Calibri"/>
              </a:rPr>
              <a:t>Peer</a:t>
            </a: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 </a:t>
            </a:r>
            <a:r>
              <a:rPr lang="ru-RU" sz="1400" dirty="0" err="1">
                <a:latin typeface="Calibri" panose="020F0502020204030204" pitchFamily="34" charset="0"/>
                <a:ea typeface="PT Sans Regular"/>
                <a:cs typeface="Calibri"/>
              </a:rPr>
              <a:t>Insights</a:t>
            </a: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 2024</a:t>
            </a:r>
            <a:endParaRPr sz="1400" dirty="0">
              <a:latin typeface="Calibri" panose="020F0502020204030204" pitchFamily="34" charset="0"/>
              <a:cs typeface="Calibri"/>
            </a:endParaRP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В ТОП-3 BPM</a:t>
            </a:r>
            <a:r>
              <a:rPr lang="en-US" sz="1400" dirty="0">
                <a:latin typeface="Calibri" panose="020F0502020204030204" pitchFamily="34" charset="0"/>
                <a:ea typeface="PT Sans Regular"/>
                <a:cs typeface="Calibri"/>
              </a:rPr>
              <a:t>-</a:t>
            </a: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платформ в России по версии</a:t>
            </a: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 CNews 2024</a:t>
            </a:r>
            <a:endParaRPr sz="1400" dirty="0">
              <a:latin typeface="Calibri" panose="020F0502020204030204" pitchFamily="34" charset="0"/>
              <a:cs typeface="Calibri"/>
            </a:endParaRP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Партнёр Ассоциации BPM-профессионалов России</a:t>
            </a:r>
            <a:endParaRPr sz="1400" dirty="0">
              <a:latin typeface="Calibri" panose="020F0502020204030204" pitchFamily="34" charset="0"/>
              <a:cs typeface="Calibri"/>
            </a:endParaRP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  <a:t>8 патентов на технологии обработки и </a:t>
            </a:r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хранения данных</a:t>
            </a:r>
            <a:endParaRPr sz="1400" dirty="0">
              <a:latin typeface="Calibri" panose="020F0502020204030204" pitchFamily="34" charset="0"/>
              <a:cs typeface="Calibri"/>
            </a:endParaRP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/>
              </a:rPr>
              <a:t>Участник разработки методических рекомендаций ФКУ «</a:t>
            </a:r>
            <a:r>
              <a:rPr lang="ru-RU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/>
              </a:rPr>
              <a:t>Гостех</a:t>
            </a:r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/>
              </a:rPr>
              <a:t>»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197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/>
              </a:rPr>
              <a:t>Проекты на базе </a:t>
            </a:r>
            <a:r>
              <a:rPr lang="en-US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/>
              </a:rPr>
              <a:t>Comindware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/>
              </a:rPr>
              <a:t> Platform </a:t>
            </a:r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/>
              </a:rPr>
              <a:t>удостаиваются высокой оценки экспертов на различных конкурсах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/>
            </a:endParaRPr>
          </a:p>
          <a:p>
            <a:pPr marL="285750" indent="-285750">
              <a:spcAft>
                <a:spcPts val="1197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Более 15 лет на рынке</a:t>
            </a:r>
            <a:endParaRPr sz="14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518286595" name="Rectangle 6"/>
          <p:cNvSpPr/>
          <p:nvPr/>
        </p:nvSpPr>
        <p:spPr bwMode="auto">
          <a:xfrm>
            <a:off x="5973817" y="5313983"/>
            <a:ext cx="5419681" cy="415498"/>
          </a:xfrm>
          <a:prstGeom prst="rect">
            <a:avLst/>
          </a:prstGeom>
          <a:grpFill/>
        </p:spPr>
        <p:txBody>
          <a:bodyPr wrap="square" lIns="0" tIns="0">
            <a:spAutoFit/>
          </a:bodyPr>
          <a:lstStyle/>
          <a:p>
            <a:pPr>
              <a:spcAft>
                <a:spcPts val="1198"/>
              </a:spcAft>
              <a:buClr>
                <a:srgbClr val="409ED6"/>
              </a:buClr>
              <a:defRPr/>
            </a:pPr>
            <a:r>
              <a:rPr lang="ru-RU" sz="1200" dirty="0">
                <a:latin typeface="Calibri" panose="020F0502020204030204" pitchFamily="34" charset="0"/>
                <a:ea typeface="PT Sans Regular"/>
                <a:cs typeface="Calibri"/>
              </a:rPr>
              <a:t>Программное обеспечение Comindware полностью соответствует требованиям импортозамещения и входит в реестр </a:t>
            </a:r>
            <a:r>
              <a:rPr lang="ru-RU" sz="1200" dirty="0" err="1">
                <a:latin typeface="Calibri" panose="020F0502020204030204" pitchFamily="34" charset="0"/>
                <a:ea typeface="PT Sans Regular"/>
                <a:cs typeface="Calibri"/>
              </a:rPr>
              <a:t>Минцифры</a:t>
            </a:r>
            <a:r>
              <a:rPr lang="ru-RU" sz="1200" dirty="0">
                <a:latin typeface="Calibri" panose="020F0502020204030204" pitchFamily="34" charset="0"/>
                <a:ea typeface="PT Sans Regular"/>
                <a:cs typeface="Calibri"/>
              </a:rPr>
              <a:t>. </a:t>
            </a:r>
            <a:endParaRPr sz="1200" dirty="0"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220714445" name="Picture 196317336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83674" y="3425610"/>
            <a:ext cx="833427" cy="937290"/>
          </a:xfrm>
          <a:prstGeom prst="rect">
            <a:avLst/>
          </a:prstGeom>
        </p:spPr>
      </p:pic>
      <p:pic>
        <p:nvPicPr>
          <p:cNvPr id="972554833" name="Picture 11582080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6937" y="4627661"/>
            <a:ext cx="810982" cy="849195"/>
          </a:xfrm>
          <a:prstGeom prst="rect">
            <a:avLst/>
          </a:prstGeom>
        </p:spPr>
      </p:pic>
      <p:pic>
        <p:nvPicPr>
          <p:cNvPr id="1746065664" name="Picture 94893738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353758" y="3425610"/>
            <a:ext cx="833427" cy="937290"/>
          </a:xfrm>
          <a:prstGeom prst="rect">
            <a:avLst/>
          </a:prstGeom>
        </p:spPr>
      </p:pic>
      <p:pic>
        <p:nvPicPr>
          <p:cNvPr id="411738892" name="Picture 335630346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2368716" y="3425610"/>
            <a:ext cx="833427" cy="937290"/>
          </a:xfrm>
          <a:prstGeom prst="rect">
            <a:avLst/>
          </a:prstGeom>
        </p:spPr>
      </p:pic>
      <p:pic>
        <p:nvPicPr>
          <p:cNvPr id="1098616620" name="Picture 10535728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6785" y="3425610"/>
            <a:ext cx="815442" cy="937290"/>
          </a:xfrm>
          <a:prstGeom prst="rect">
            <a:avLst/>
          </a:prstGeom>
        </p:spPr>
      </p:pic>
      <p:pic>
        <p:nvPicPr>
          <p:cNvPr id="1880008377" name="Picture 95087023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73474" y="4673239"/>
            <a:ext cx="977870" cy="758038"/>
          </a:xfrm>
          <a:prstGeom prst="rect">
            <a:avLst/>
          </a:prstGeom>
        </p:spPr>
      </p:pic>
      <p:pic>
        <p:nvPicPr>
          <p:cNvPr id="967665498" name="Picture 1158747224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3298235" y="4685314"/>
            <a:ext cx="868767" cy="733889"/>
          </a:xfrm>
          <a:prstGeom prst="rect">
            <a:avLst/>
          </a:prstGeom>
        </p:spPr>
      </p:pic>
      <p:pic>
        <p:nvPicPr>
          <p:cNvPr id="1289616036" name="Picture 28603798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26899" y="4682101"/>
            <a:ext cx="895781" cy="740315"/>
          </a:xfrm>
          <a:prstGeom prst="rect">
            <a:avLst/>
          </a:prstGeom>
        </p:spPr>
      </p:pic>
      <p:pic>
        <p:nvPicPr>
          <p:cNvPr id="9" name="Picture 1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5094018" y="5180543"/>
            <a:ext cx="653780" cy="6823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689237" y="5814204"/>
            <a:ext cx="1826885" cy="49691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tretch/>
        </p:blipFill>
        <p:spPr bwMode="auto">
          <a:xfrm>
            <a:off x="2934996" y="5750478"/>
            <a:ext cx="937733" cy="624364"/>
          </a:xfrm>
          <a:prstGeom prst="rect">
            <a:avLst/>
          </a:prstGeom>
          <a:noFill/>
        </p:spPr>
      </p:pic>
      <p:pic>
        <p:nvPicPr>
          <p:cNvPr id="41" name="Picture 13">
            <a:extLst>
              <a:ext uri="{FF2B5EF4-FFF2-40B4-BE49-F238E27FC236}">
                <a16:creationId xmlns:a16="http://schemas.microsoft.com/office/drawing/2014/main" id="{4559300D-B90F-48B9-BFE5-F333DE2C81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 bwMode="auto">
          <a:xfrm>
            <a:off x="340576" y="2572225"/>
            <a:ext cx="1081578" cy="540787"/>
          </a:xfrm>
          <a:prstGeom prst="rect">
            <a:avLst/>
          </a:prstGeom>
        </p:spPr>
      </p:pic>
      <p:pic>
        <p:nvPicPr>
          <p:cNvPr id="42" name="Picture 14">
            <a:extLst>
              <a:ext uri="{FF2B5EF4-FFF2-40B4-BE49-F238E27FC236}">
                <a16:creationId xmlns:a16="http://schemas.microsoft.com/office/drawing/2014/main" id="{2CA3023C-90E5-4EDE-8994-E580FA3C7B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 bwMode="auto">
          <a:xfrm>
            <a:off x="3046677" y="1916113"/>
            <a:ext cx="1105433" cy="552715"/>
          </a:xfrm>
          <a:prstGeom prst="rect">
            <a:avLst/>
          </a:prstGeom>
        </p:spPr>
      </p:pic>
      <p:pic>
        <p:nvPicPr>
          <p:cNvPr id="43" name="Picture 15">
            <a:extLst>
              <a:ext uri="{FF2B5EF4-FFF2-40B4-BE49-F238E27FC236}">
                <a16:creationId xmlns:a16="http://schemas.microsoft.com/office/drawing/2014/main" id="{ABB07E3A-B734-49DC-832D-96CA4E9744C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 bwMode="auto">
          <a:xfrm>
            <a:off x="1617044" y="2560297"/>
            <a:ext cx="1105433" cy="552715"/>
          </a:xfrm>
          <a:prstGeom prst="rect">
            <a:avLst/>
          </a:prstGeom>
        </p:spPr>
      </p:pic>
      <p:pic>
        <p:nvPicPr>
          <p:cNvPr id="44" name="Picture 16">
            <a:extLst>
              <a:ext uri="{FF2B5EF4-FFF2-40B4-BE49-F238E27FC236}">
                <a16:creationId xmlns:a16="http://schemas.microsoft.com/office/drawing/2014/main" id="{3DF6D903-2AD3-40FD-B133-4FCEF460305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 bwMode="auto">
          <a:xfrm>
            <a:off x="340576" y="1916113"/>
            <a:ext cx="1105433" cy="552715"/>
          </a:xfrm>
          <a:prstGeom prst="rect">
            <a:avLst/>
          </a:prstGeom>
        </p:spPr>
      </p:pic>
      <p:pic>
        <p:nvPicPr>
          <p:cNvPr id="45" name="Picture 17">
            <a:extLst>
              <a:ext uri="{FF2B5EF4-FFF2-40B4-BE49-F238E27FC236}">
                <a16:creationId xmlns:a16="http://schemas.microsoft.com/office/drawing/2014/main" id="{C5669378-156D-49C6-903E-911A80A56B2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 bwMode="auto">
          <a:xfrm>
            <a:off x="3046678" y="2563333"/>
            <a:ext cx="1105433" cy="55271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6BB84FF3-3DDA-4541-8F5F-1DD918F1E2E7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8982" y="1916113"/>
            <a:ext cx="1105432" cy="53376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CA5539D-14D3-4D4B-BC14-623D9763BF30}"/>
              </a:ext>
            </a:extLst>
          </p:cNvPr>
          <p:cNvSpPr txBox="1"/>
          <p:nvPr/>
        </p:nvSpPr>
        <p:spPr>
          <a:xfrm>
            <a:off x="334963" y="709200"/>
            <a:ext cx="10974361" cy="55271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/>
            </a:pPr>
            <a:r>
              <a:rPr lang="ru-RU" sz="2800" dirty="0">
                <a:latin typeface="Calibri" panose="020F0502020204030204" pitchFamily="34" charset="0"/>
                <a:ea typeface="PT Sans Regular"/>
                <a:cs typeface="Calibri"/>
              </a:rPr>
              <a:t>Лидерство, признанное рынком и экспертным сообществом</a:t>
            </a:r>
            <a:endParaRPr lang="ru-RU" sz="2800" dirty="0">
              <a:latin typeface="Calibri" panose="020F050202020403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633850" name="TextBox 8"/>
          <p:cNvSpPr txBox="1"/>
          <p:nvPr/>
        </p:nvSpPr>
        <p:spPr bwMode="auto">
          <a:xfrm>
            <a:off x="334965" y="709200"/>
            <a:ext cx="11522073" cy="55265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PT Sans"/>
                <a:ea typeface="PT Sans Regular"/>
                <a:cs typeface="Calibri"/>
              </a:defRPr>
            </a:lvl1pPr>
          </a:lstStyle>
          <a:p>
            <a:r>
              <a:rPr lang="ru-RU" dirty="0">
                <a:latin typeface="Calibri" panose="020F0502020204030204" pitchFamily="34" charset="0"/>
              </a:rPr>
              <a:t>Истории успеха длиной более 15 лет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9F72FE3C-105A-FED5-C160-76CA22BE0928}"/>
              </a:ext>
            </a:extLst>
          </p:cNvPr>
          <p:cNvSpPr txBox="1"/>
          <p:nvPr/>
        </p:nvSpPr>
        <p:spPr bwMode="auto">
          <a:xfrm>
            <a:off x="8711396" y="4817821"/>
            <a:ext cx="3145642" cy="530530"/>
          </a:xfrm>
          <a:prstGeom prst="rect">
            <a:avLst/>
          </a:prstGeom>
          <a:noFill/>
          <a:ln w="1269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400" dirty="0">
                <a:latin typeface="Calibri" panose="020F0502020204030204" pitchFamily="34" charset="0"/>
                <a:cs typeface="Calibri"/>
              </a:rPr>
              <a:t>и 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300+ других компаний, чьи названия</a:t>
            </a:r>
            <a:br>
              <a:rPr lang="ru-RU" sz="1400" dirty="0">
                <a:latin typeface="Calibri" panose="020F0502020204030204" pitchFamily="34" charset="0"/>
                <a:cs typeface="Calibri"/>
              </a:rPr>
            </a:br>
            <a:r>
              <a:rPr lang="ru-RU" sz="1400" dirty="0">
                <a:latin typeface="Calibri" panose="020F0502020204030204" pitchFamily="34" charset="0"/>
                <a:cs typeface="Calibri"/>
              </a:rPr>
              <a:t>не могут быть публично упомянуты</a:t>
            </a:r>
            <a:endParaRPr sz="1400" dirty="0"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3" name="Picture 9">
            <a:extLst>
              <a:ext uri="{FF2B5EF4-FFF2-40B4-BE49-F238E27FC236}">
                <a16:creationId xmlns:a16="http://schemas.microsoft.com/office/drawing/2014/main" id="{57869F35-C6AD-325C-AC96-EC45C2E2C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V="1">
            <a:off x="8868725" y="4817820"/>
            <a:ext cx="560631" cy="287089"/>
          </a:xfrm>
          <a:prstGeom prst="rect">
            <a:avLst/>
          </a:prstGeom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F43C6D76-3560-45FA-BDFB-C156FC464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957038" y="2493312"/>
            <a:ext cx="900000" cy="450000"/>
          </a:xfrm>
          <a:prstGeom prst="rect">
            <a:avLst/>
          </a:prstGeom>
        </p:spPr>
      </p:pic>
      <p:pic>
        <p:nvPicPr>
          <p:cNvPr id="7" name="Picture 25">
            <a:extLst>
              <a:ext uri="{FF2B5EF4-FFF2-40B4-BE49-F238E27FC236}">
                <a16:creationId xmlns:a16="http://schemas.microsoft.com/office/drawing/2014/main" id="{28563BBB-7A39-4449-BED0-ED9165CDF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698637" y="2493312"/>
            <a:ext cx="900000" cy="450000"/>
          </a:xfrm>
          <a:prstGeom prst="rect">
            <a:avLst/>
          </a:prstGeom>
        </p:spPr>
      </p:pic>
      <p:pic>
        <p:nvPicPr>
          <p:cNvPr id="8" name="Picture 29">
            <a:extLst>
              <a:ext uri="{FF2B5EF4-FFF2-40B4-BE49-F238E27FC236}">
                <a16:creationId xmlns:a16="http://schemas.microsoft.com/office/drawing/2014/main" id="{B0FCC645-59CA-4789-B3E3-78F122AE3D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784770" y="2493312"/>
            <a:ext cx="900000" cy="450000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736ABCA3-F097-4C09-96B2-D4BDB3F906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5526371" y="2493312"/>
            <a:ext cx="900000" cy="450000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B8DC09D5-3349-4D48-8402-2D03DF6AB4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6612504" y="2493312"/>
            <a:ext cx="900000" cy="450000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BECE672C-8645-4332-975C-F8B1BFAB0B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5526371" y="1921560"/>
            <a:ext cx="900000" cy="450000"/>
          </a:xfrm>
          <a:prstGeom prst="rect">
            <a:avLst/>
          </a:prstGeom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68AD7BAF-E3D7-4363-80CB-20F465C269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8784770" y="1921560"/>
            <a:ext cx="900000" cy="450000"/>
          </a:xfrm>
          <a:prstGeom prst="rect">
            <a:avLst/>
          </a:prstGeom>
        </p:spPr>
      </p:pic>
      <p:pic>
        <p:nvPicPr>
          <p:cNvPr id="13" name="Picture 11">
            <a:extLst>
              <a:ext uri="{FF2B5EF4-FFF2-40B4-BE49-F238E27FC236}">
                <a16:creationId xmlns:a16="http://schemas.microsoft.com/office/drawing/2014/main" id="{E106D7D0-981B-4068-B013-6719268F95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6619714" y="3065065"/>
            <a:ext cx="900000" cy="450000"/>
          </a:xfrm>
          <a:prstGeom prst="rect">
            <a:avLst/>
          </a:prstGeom>
        </p:spPr>
      </p:pic>
      <p:pic>
        <p:nvPicPr>
          <p:cNvPr id="14" name="Picture 18">
            <a:extLst>
              <a:ext uri="{FF2B5EF4-FFF2-40B4-BE49-F238E27FC236}">
                <a16:creationId xmlns:a16="http://schemas.microsoft.com/office/drawing/2014/main" id="{53148037-19D9-4A74-9732-0FA2DF3148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4440238" y="3065065"/>
            <a:ext cx="900000" cy="450000"/>
          </a:xfrm>
          <a:prstGeom prst="rect">
            <a:avLst/>
          </a:prstGeom>
        </p:spPr>
      </p:pic>
      <p:pic>
        <p:nvPicPr>
          <p:cNvPr id="15" name="Picture 3">
            <a:extLst>
              <a:ext uri="{FF2B5EF4-FFF2-40B4-BE49-F238E27FC236}">
                <a16:creationId xmlns:a16="http://schemas.microsoft.com/office/drawing/2014/main" id="{3035F6B9-84EF-4C31-BA68-388D80F02D4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>
            <a:off x="10957038" y="1921560"/>
            <a:ext cx="900000" cy="450000"/>
          </a:xfrm>
          <a:prstGeom prst="rect">
            <a:avLst/>
          </a:prstGeom>
        </p:spPr>
      </p:pic>
      <p:pic>
        <p:nvPicPr>
          <p:cNvPr id="16" name="Picture 5">
            <a:extLst>
              <a:ext uri="{FF2B5EF4-FFF2-40B4-BE49-F238E27FC236}">
                <a16:creationId xmlns:a16="http://schemas.microsoft.com/office/drawing/2014/main" id="{90949C1E-F90F-410A-B808-8F49A01A9B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 bwMode="auto">
          <a:xfrm>
            <a:off x="7709452" y="3065065"/>
            <a:ext cx="900000" cy="4500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28998A19-7580-4F0C-BB9E-3D5C424D342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 bwMode="auto">
          <a:xfrm>
            <a:off x="9870903" y="2493312"/>
            <a:ext cx="900000" cy="450000"/>
          </a:xfrm>
          <a:prstGeom prst="rect">
            <a:avLst/>
          </a:prstGeom>
        </p:spPr>
      </p:pic>
      <p:pic>
        <p:nvPicPr>
          <p:cNvPr id="18" name="Picture 21">
            <a:extLst>
              <a:ext uri="{FF2B5EF4-FFF2-40B4-BE49-F238E27FC236}">
                <a16:creationId xmlns:a16="http://schemas.microsoft.com/office/drawing/2014/main" id="{55777815-5229-4DEB-9F5B-2B75D116838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 bwMode="auto">
          <a:xfrm>
            <a:off x="6612504" y="1921560"/>
            <a:ext cx="900000" cy="450000"/>
          </a:xfrm>
          <a:prstGeom prst="rect">
            <a:avLst/>
          </a:prstGeom>
        </p:spPr>
      </p:pic>
      <p:pic>
        <p:nvPicPr>
          <p:cNvPr id="19" name="Picture 37">
            <a:extLst>
              <a:ext uri="{FF2B5EF4-FFF2-40B4-BE49-F238E27FC236}">
                <a16:creationId xmlns:a16="http://schemas.microsoft.com/office/drawing/2014/main" id="{09494403-6E25-44B9-A6A2-E517D0AFCB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 bwMode="auto">
          <a:xfrm>
            <a:off x="5529976" y="3065065"/>
            <a:ext cx="900000" cy="450000"/>
          </a:xfrm>
          <a:prstGeom prst="rect">
            <a:avLst/>
          </a:prstGeom>
        </p:spPr>
      </p:pic>
      <p:pic>
        <p:nvPicPr>
          <p:cNvPr id="20" name="Picture 18">
            <a:extLst>
              <a:ext uri="{FF2B5EF4-FFF2-40B4-BE49-F238E27FC236}">
                <a16:creationId xmlns:a16="http://schemas.microsoft.com/office/drawing/2014/main" id="{953074F2-BFAA-4B2C-B221-D0A8A704CF5B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 bwMode="auto">
          <a:xfrm>
            <a:off x="7698637" y="1921560"/>
            <a:ext cx="900000" cy="4500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9AF70455-12E9-430B-B474-5F8B30FAEB9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 bwMode="auto">
          <a:xfrm>
            <a:off x="9870903" y="1921560"/>
            <a:ext cx="900000" cy="450000"/>
          </a:xfrm>
          <a:prstGeom prst="rect">
            <a:avLst/>
          </a:prstGeom>
        </p:spPr>
      </p:pic>
      <p:pic>
        <p:nvPicPr>
          <p:cNvPr id="22" name="Picture 1">
            <a:extLst>
              <a:ext uri="{FF2B5EF4-FFF2-40B4-BE49-F238E27FC236}">
                <a16:creationId xmlns:a16="http://schemas.microsoft.com/office/drawing/2014/main" id="{539CE054-CD2B-40F1-962D-27867B7CC57A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 bwMode="auto">
          <a:xfrm>
            <a:off x="9888928" y="3065065"/>
            <a:ext cx="878374" cy="439187"/>
          </a:xfrm>
          <a:prstGeom prst="rect">
            <a:avLst/>
          </a:prstGeom>
        </p:spPr>
      </p:pic>
      <p:pic>
        <p:nvPicPr>
          <p:cNvPr id="24" name="Picture 17">
            <a:extLst>
              <a:ext uri="{FF2B5EF4-FFF2-40B4-BE49-F238E27FC236}">
                <a16:creationId xmlns:a16="http://schemas.microsoft.com/office/drawing/2014/main" id="{9A416C59-1CF1-4699-8F58-772DCBA32DF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 bwMode="auto">
          <a:xfrm>
            <a:off x="4440238" y="3636549"/>
            <a:ext cx="900000" cy="450000"/>
          </a:xfrm>
          <a:prstGeom prst="rect">
            <a:avLst/>
          </a:prstGeom>
        </p:spPr>
      </p:pic>
      <p:pic>
        <p:nvPicPr>
          <p:cNvPr id="25" name="Picture 17">
            <a:extLst>
              <a:ext uri="{FF2B5EF4-FFF2-40B4-BE49-F238E27FC236}">
                <a16:creationId xmlns:a16="http://schemas.microsoft.com/office/drawing/2014/main" id="{D66E2BA8-B851-4B8A-A879-904488D20C0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 bwMode="auto">
          <a:xfrm>
            <a:off x="5526371" y="3636549"/>
            <a:ext cx="900000" cy="450000"/>
          </a:xfrm>
          <a:prstGeom prst="rect">
            <a:avLst/>
          </a:prstGeom>
        </p:spPr>
      </p:pic>
      <p:pic>
        <p:nvPicPr>
          <p:cNvPr id="26" name="Picture 17">
            <a:extLst>
              <a:ext uri="{FF2B5EF4-FFF2-40B4-BE49-F238E27FC236}">
                <a16:creationId xmlns:a16="http://schemas.microsoft.com/office/drawing/2014/main" id="{6F70605C-6742-47B2-9AF1-3FC531ACCED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 bwMode="auto">
          <a:xfrm>
            <a:off x="6612504" y="3636549"/>
            <a:ext cx="900000" cy="450000"/>
          </a:xfrm>
          <a:prstGeom prst="rect">
            <a:avLst/>
          </a:prstGeom>
        </p:spPr>
      </p:pic>
      <p:pic>
        <p:nvPicPr>
          <p:cNvPr id="27" name="Picture 17">
            <a:extLst>
              <a:ext uri="{FF2B5EF4-FFF2-40B4-BE49-F238E27FC236}">
                <a16:creationId xmlns:a16="http://schemas.microsoft.com/office/drawing/2014/main" id="{2F626AAD-FDD0-4347-81FC-01E2E1718FE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>
            <a:off x="7698637" y="3636549"/>
            <a:ext cx="900000" cy="450000"/>
          </a:xfrm>
          <a:prstGeom prst="rect">
            <a:avLst/>
          </a:prstGeom>
        </p:spPr>
      </p:pic>
      <p:pic>
        <p:nvPicPr>
          <p:cNvPr id="28" name="Picture 17">
            <a:extLst>
              <a:ext uri="{FF2B5EF4-FFF2-40B4-BE49-F238E27FC236}">
                <a16:creationId xmlns:a16="http://schemas.microsoft.com/office/drawing/2014/main" id="{0A30E1B8-2140-49D5-9D1B-E45246CF0D4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/>
        </p:blipFill>
        <p:spPr bwMode="auto">
          <a:xfrm>
            <a:off x="8799190" y="3065065"/>
            <a:ext cx="900000" cy="450000"/>
          </a:xfrm>
          <a:prstGeom prst="rect">
            <a:avLst/>
          </a:prstGeom>
        </p:spPr>
      </p:pic>
      <p:pic>
        <p:nvPicPr>
          <p:cNvPr id="29" name="Picture 17">
            <a:extLst>
              <a:ext uri="{FF2B5EF4-FFF2-40B4-BE49-F238E27FC236}">
                <a16:creationId xmlns:a16="http://schemas.microsoft.com/office/drawing/2014/main" id="{B9E9C022-530B-44F6-A289-DCD729BEF99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/>
        </p:blipFill>
        <p:spPr bwMode="auto">
          <a:xfrm>
            <a:off x="10957038" y="3636549"/>
            <a:ext cx="900000" cy="450000"/>
          </a:xfrm>
          <a:prstGeom prst="rect">
            <a:avLst/>
          </a:prstGeom>
        </p:spPr>
      </p:pic>
      <p:pic>
        <p:nvPicPr>
          <p:cNvPr id="30" name="Picture 17">
            <a:extLst>
              <a:ext uri="{FF2B5EF4-FFF2-40B4-BE49-F238E27FC236}">
                <a16:creationId xmlns:a16="http://schemas.microsoft.com/office/drawing/2014/main" id="{3F6912B4-99BE-4BE4-AE57-CF99850D7AA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57038" y="3065065"/>
            <a:ext cx="900000" cy="447059"/>
          </a:xfrm>
          <a:prstGeom prst="rect">
            <a:avLst/>
          </a:prstGeom>
        </p:spPr>
      </p:pic>
      <p:pic>
        <p:nvPicPr>
          <p:cNvPr id="31" name="Picture 17">
            <a:extLst>
              <a:ext uri="{FF2B5EF4-FFF2-40B4-BE49-F238E27FC236}">
                <a16:creationId xmlns:a16="http://schemas.microsoft.com/office/drawing/2014/main" id="{4F3E061D-FFC1-410F-AC56-9B8264AD81FC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440238" y="4219501"/>
            <a:ext cx="900000" cy="450000"/>
          </a:xfrm>
          <a:prstGeom prst="rect">
            <a:avLst/>
          </a:prstGeom>
        </p:spPr>
      </p:pic>
      <p:pic>
        <p:nvPicPr>
          <p:cNvPr id="1026" name="Picture 2" descr="usdgroup">
            <a:extLst>
              <a:ext uri="{FF2B5EF4-FFF2-40B4-BE49-F238E27FC236}">
                <a16:creationId xmlns:a16="http://schemas.microsoft.com/office/drawing/2014/main" id="{CD0A30CA-6E5F-4FA8-9BB5-EABFA7E24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371" y="4219501"/>
            <a:ext cx="900000" cy="45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acronis">
            <a:extLst>
              <a:ext uri="{FF2B5EF4-FFF2-40B4-BE49-F238E27FC236}">
                <a16:creationId xmlns:a16="http://schemas.microsoft.com/office/drawing/2014/main" id="{C9B58BCE-E589-45BC-AE55-8FF645938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770" y="4219501"/>
            <a:ext cx="900000" cy="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gazpromavia">
            <a:extLst>
              <a:ext uri="{FF2B5EF4-FFF2-40B4-BE49-F238E27FC236}">
                <a16:creationId xmlns:a16="http://schemas.microsoft.com/office/drawing/2014/main" id="{4E31E3F7-5A29-4031-9894-62745CF72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8" y="2493312"/>
            <a:ext cx="900000" cy="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pharm">
            <a:extLst>
              <a:ext uri="{FF2B5EF4-FFF2-40B4-BE49-F238E27FC236}">
                <a16:creationId xmlns:a16="http://schemas.microsoft.com/office/drawing/2014/main" id="{954A81DA-8002-4799-8785-55906C0C3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8" y="4802453"/>
            <a:ext cx="900000" cy="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9trest">
            <a:extLst>
              <a:ext uri="{FF2B5EF4-FFF2-40B4-BE49-F238E27FC236}">
                <a16:creationId xmlns:a16="http://schemas.microsoft.com/office/drawing/2014/main" id="{19F5D9D6-20A1-4CC7-B88E-162C62DF8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371" y="4802452"/>
            <a:ext cx="900000" cy="45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ralelectra">
            <a:extLst>
              <a:ext uri="{FF2B5EF4-FFF2-40B4-BE49-F238E27FC236}">
                <a16:creationId xmlns:a16="http://schemas.microsoft.com/office/drawing/2014/main" id="{BE53EB24-BDC8-496C-BA0B-ACA8756FB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8637" y="4802453"/>
            <a:ext cx="900000" cy="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activlogistic">
            <a:extLst>
              <a:ext uri="{FF2B5EF4-FFF2-40B4-BE49-F238E27FC236}">
                <a16:creationId xmlns:a16="http://schemas.microsoft.com/office/drawing/2014/main" id="{92187E8D-C4F1-41E7-AFE7-87CA8638C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504" y="4802453"/>
            <a:ext cx="900000" cy="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8A01AD1B-481D-4CCF-A35A-487B286EB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504" y="4219501"/>
            <a:ext cx="900000" cy="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1">
            <a:extLst>
              <a:ext uri="{FF2B5EF4-FFF2-40B4-BE49-F238E27FC236}">
                <a16:creationId xmlns:a16="http://schemas.microsoft.com/office/drawing/2014/main" id="{D68B23BE-76A3-44A0-B5D1-170EA011309B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/>
        </p:blipFill>
        <p:spPr bwMode="auto">
          <a:xfrm>
            <a:off x="4440238" y="1921560"/>
            <a:ext cx="900000" cy="450000"/>
          </a:xfrm>
          <a:prstGeom prst="rect">
            <a:avLst/>
          </a:prstGeom>
        </p:spPr>
      </p:pic>
      <p:pic>
        <p:nvPicPr>
          <p:cNvPr id="47" name="Picture 37">
            <a:extLst>
              <a:ext uri="{FF2B5EF4-FFF2-40B4-BE49-F238E27FC236}">
                <a16:creationId xmlns:a16="http://schemas.microsoft.com/office/drawing/2014/main" id="{A47F29C8-C462-4F83-96BA-AEC39E48C815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/>
          <a:stretch/>
        </p:blipFill>
        <p:spPr bwMode="auto">
          <a:xfrm>
            <a:off x="8784770" y="3636549"/>
            <a:ext cx="900000" cy="450000"/>
          </a:xfrm>
          <a:prstGeom prst="rect">
            <a:avLst/>
          </a:prstGeom>
        </p:spPr>
      </p:pic>
      <p:pic>
        <p:nvPicPr>
          <p:cNvPr id="48" name="Picture 25">
            <a:extLst>
              <a:ext uri="{FF2B5EF4-FFF2-40B4-BE49-F238E27FC236}">
                <a16:creationId xmlns:a16="http://schemas.microsoft.com/office/drawing/2014/main" id="{8962B8CD-0D3E-4829-9DC3-86FD92333BC5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/>
          <a:stretch/>
        </p:blipFill>
        <p:spPr bwMode="auto">
          <a:xfrm>
            <a:off x="7698637" y="4219501"/>
            <a:ext cx="900000" cy="450000"/>
          </a:xfrm>
          <a:prstGeom prst="rect">
            <a:avLst/>
          </a:prstGeom>
        </p:spPr>
      </p:pic>
      <p:pic>
        <p:nvPicPr>
          <p:cNvPr id="49" name="Picture 43">
            <a:extLst>
              <a:ext uri="{FF2B5EF4-FFF2-40B4-BE49-F238E27FC236}">
                <a16:creationId xmlns:a16="http://schemas.microsoft.com/office/drawing/2014/main" id="{E3898C9E-E491-4E42-BFB7-92608362BDE4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/>
          <a:stretch/>
        </p:blipFill>
        <p:spPr bwMode="auto">
          <a:xfrm>
            <a:off x="10957038" y="4219501"/>
            <a:ext cx="900000" cy="450000"/>
          </a:xfrm>
          <a:prstGeom prst="rect">
            <a:avLst/>
          </a:prstGeom>
        </p:spPr>
      </p:pic>
      <p:sp>
        <p:nvSpPr>
          <p:cNvPr id="44" name="Rectangle 42">
            <a:extLst>
              <a:ext uri="{FF2B5EF4-FFF2-40B4-BE49-F238E27FC236}">
                <a16:creationId xmlns:a16="http://schemas.microsoft.com/office/drawing/2014/main" id="{6DDAB9A0-E083-4661-9836-B90D3506E416}"/>
              </a:ext>
            </a:extLst>
          </p:cNvPr>
          <p:cNvSpPr/>
          <p:nvPr/>
        </p:nvSpPr>
        <p:spPr bwMode="auto">
          <a:xfrm>
            <a:off x="334963" y="1936800"/>
            <a:ext cx="3421062" cy="1538883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Каждая 7 компания из ТОП-100* работает с решением </a:t>
            </a:r>
            <a:r>
              <a:rPr lang="en-US" sz="1400" dirty="0" err="1">
                <a:latin typeface="Calibri" panose="020F0502020204030204" pitchFamily="34" charset="0"/>
                <a:cs typeface="Calibri"/>
              </a:rPr>
              <a:t>Comindware</a:t>
            </a:r>
            <a:r>
              <a:rPr lang="en-US" sz="1400" dirty="0">
                <a:latin typeface="Calibri" panose="020F0502020204030204" pitchFamily="34" charset="0"/>
                <a:cs typeface="Calibri"/>
              </a:rPr>
              <a:t> 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или партнёров</a:t>
            </a: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37% компаний из ТОП-100 </a:t>
            </a:r>
            <a:r>
              <a:rPr lang="ru-RU" altLang="ru-RU" sz="1400" dirty="0">
                <a:latin typeface="Calibri" panose="020F0502020204030204" pitchFamily="34" charset="0"/>
                <a:cs typeface="Calibri"/>
              </a:rPr>
              <a:t>рассматривает </a:t>
            </a:r>
            <a:r>
              <a:rPr lang="en-US" altLang="ru-RU" sz="1400" dirty="0" err="1">
                <a:latin typeface="Calibri" panose="020F0502020204030204" pitchFamily="34" charset="0"/>
                <a:cs typeface="Calibri"/>
              </a:rPr>
              <a:t>Comindware</a:t>
            </a:r>
            <a:r>
              <a:rPr lang="ru-RU" altLang="ru-RU" sz="1400" dirty="0">
                <a:latin typeface="Calibri" panose="020F0502020204030204" pitchFamily="34" charset="0"/>
                <a:cs typeface="Calibri"/>
              </a:rPr>
              <a:t> как партнёра по цифровой трансформации</a:t>
            </a:r>
            <a:endParaRPr sz="14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50" name="Текст 1">
            <a:extLst>
              <a:ext uri="{FF2B5EF4-FFF2-40B4-BE49-F238E27FC236}">
                <a16:creationId xmlns:a16="http://schemas.microsoft.com/office/drawing/2014/main" id="{6DAF2D6C-CCDA-4B5A-919F-F7E5F644C90F}"/>
              </a:ext>
            </a:extLst>
          </p:cNvPr>
          <p:cNvSpPr txBox="1">
            <a:spLocks/>
          </p:cNvSpPr>
          <p:nvPr/>
        </p:nvSpPr>
        <p:spPr bwMode="auto">
          <a:xfrm>
            <a:off x="334962" y="6291940"/>
            <a:ext cx="4105275" cy="232685"/>
          </a:xfrm>
          <a:prstGeom prst="rect">
            <a:avLst/>
          </a:prstGeom>
          <a:grp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708"/>
              </a:spcAft>
              <a:defRPr/>
            </a:pP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/>
              </a:rPr>
              <a:t>*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/>
              </a:rPr>
              <a:t> 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/>
              </a:rPr>
              <a:t>рейтинг крупнейших компаний России по версии РБК</a:t>
            </a:r>
          </a:p>
        </p:txBody>
      </p:sp>
      <p:pic>
        <p:nvPicPr>
          <p:cNvPr id="51" name="Picture 19">
            <a:extLst>
              <a:ext uri="{FF2B5EF4-FFF2-40B4-BE49-F238E27FC236}">
                <a16:creationId xmlns:a16="http://schemas.microsoft.com/office/drawing/2014/main" id="{E0C8E35F-A086-4FE7-B9D2-D6CA9BB80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70903" y="4219500"/>
            <a:ext cx="900000" cy="45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2">
            <a:extLst>
              <a:ext uri="{FF2B5EF4-FFF2-40B4-BE49-F238E27FC236}">
                <a16:creationId xmlns:a16="http://schemas.microsoft.com/office/drawing/2014/main" id="{3D78533F-BC3B-4E8E-943D-3B2917367CDD}"/>
              </a:ext>
            </a:extLst>
          </p:cNvPr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70903" y="3636548"/>
            <a:ext cx="900000" cy="45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5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" name="Picture 6">
            <a:extLst>
              <a:ext uri="{FF2B5EF4-FFF2-40B4-BE49-F238E27FC236}">
                <a16:creationId xmlns:a16="http://schemas.microsoft.com/office/drawing/2014/main" id="{47CC81BB-F0C1-418B-B03E-6B7FD5A6B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8058" y="2234191"/>
            <a:ext cx="7200900" cy="4449437"/>
          </a:xfrm>
          <a:prstGeom prst="rect">
            <a:avLst/>
          </a:prstGeom>
        </p:spPr>
      </p:pic>
      <p:sp>
        <p:nvSpPr>
          <p:cNvPr id="6" name="Rectangle 42">
            <a:extLst>
              <a:ext uri="{FF2B5EF4-FFF2-40B4-BE49-F238E27FC236}">
                <a16:creationId xmlns:a16="http://schemas.microsoft.com/office/drawing/2014/main" id="{6B229FC3-3B6A-CD41-0102-255CEE673B66}"/>
              </a:ext>
            </a:extLst>
          </p:cNvPr>
          <p:cNvSpPr/>
          <p:nvPr/>
        </p:nvSpPr>
        <p:spPr bwMode="auto">
          <a:xfrm>
            <a:off x="8472487" y="2276475"/>
            <a:ext cx="3442421" cy="2985433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Нативная рабочая среда для использования ИИ-помощников, разработки собственных ИИ-агентов и подключения сторонних.</a:t>
            </a: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До 100% приложения создается</a:t>
            </a:r>
            <a:br>
              <a:rPr lang="ru-RU" sz="1400" dirty="0">
                <a:latin typeface="Calibri" panose="020F0502020204030204" pitchFamily="34" charset="0"/>
                <a:cs typeface="Calibri"/>
              </a:rPr>
            </a:br>
            <a:r>
              <a:rPr lang="ru-RU" sz="1400" dirty="0">
                <a:latin typeface="Calibri" panose="020F0502020204030204" pitchFamily="34" charset="0"/>
                <a:cs typeface="Calibri"/>
              </a:rPr>
              <a:t>low-code инструментами, которые </a:t>
            </a:r>
            <a:r>
              <a:rPr lang="en-US" sz="1400" dirty="0">
                <a:latin typeface="Calibri" panose="020F0502020204030204" pitchFamily="34" charset="0"/>
                <a:cs typeface="Calibri"/>
              </a:rPr>
              <a:t>по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могают</a:t>
            </a:r>
            <a:r>
              <a:rPr lang="en-US" sz="1400" dirty="0">
                <a:latin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/>
              </a:rPr>
              <a:t>детально</a:t>
            </a:r>
            <a:r>
              <a:rPr lang="en-US" sz="1400" dirty="0">
                <a:latin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/>
              </a:rPr>
              <a:t>настраивать</a:t>
            </a:r>
            <a:r>
              <a:rPr lang="en-US" sz="1400" dirty="0">
                <a:latin typeface="Calibri" panose="020F0502020204030204" pitchFamily="34" charset="0"/>
                <a:cs typeface="Calibri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/>
              </a:rPr>
              <a:t>функционал</a:t>
            </a:r>
            <a:r>
              <a:rPr lang="en-US" sz="1400" dirty="0">
                <a:latin typeface="Calibri" panose="020F0502020204030204" pitchFamily="34" charset="0"/>
                <a:cs typeface="Calibri"/>
              </a:rPr>
              <a:t> и интерфейсы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.</a:t>
            </a: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Обработка и изменение данных не требуют реконфигурации базы, что даёт ускорение разработки в разы и возможность вносить правки «на лету».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7554B0D-5936-D1FF-96B9-9DEF532A035D}"/>
              </a:ext>
            </a:extLst>
          </p:cNvPr>
          <p:cNvSpPr/>
          <p:nvPr/>
        </p:nvSpPr>
        <p:spPr bwMode="auto">
          <a:xfrm>
            <a:off x="334963" y="709200"/>
            <a:ext cx="11192727" cy="55265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</a:pPr>
            <a:r>
              <a:rPr lang="ru-RU" sz="2800" dirty="0" err="1">
                <a:latin typeface="Calibri" panose="020F0502020204030204" pitchFamily="34" charset="0"/>
                <a:cs typeface="Calibri"/>
              </a:rPr>
              <a:t>Графовая</a:t>
            </a:r>
            <a:r>
              <a:rPr lang="ru-RU" sz="2800" dirty="0">
                <a:latin typeface="Calibri" panose="020F0502020204030204" pitchFamily="34" charset="0"/>
                <a:cs typeface="Calibri"/>
              </a:rPr>
              <a:t> модель данных </a:t>
            </a:r>
            <a:r>
              <a:rPr lang="en-US" sz="2800" dirty="0">
                <a:latin typeface="Calibri" panose="020F0502020204030204" pitchFamily="34" charset="0"/>
                <a:cs typeface="Calibri"/>
              </a:rPr>
              <a:t>—</a:t>
            </a:r>
            <a:r>
              <a:rPr lang="ru-RU" sz="2800" dirty="0">
                <a:latin typeface="Calibri" panose="020F0502020204030204" pitchFamily="34" charset="0"/>
                <a:cs typeface="Calibri"/>
              </a:rPr>
              <a:t> основа умных </a:t>
            </a:r>
            <a:r>
              <a:rPr lang="ru-RU" sz="2800" dirty="0" err="1">
                <a:latin typeface="Calibri" panose="020F0502020204030204" pitchFamily="34" charset="0"/>
                <a:cs typeface="Calibri"/>
              </a:rPr>
              <a:t>low-code</a:t>
            </a:r>
            <a:r>
              <a:rPr lang="ru-RU" sz="2800" dirty="0">
                <a:latin typeface="Calibri" panose="020F0502020204030204" pitchFamily="34" charset="0"/>
                <a:cs typeface="Calibri"/>
              </a:rPr>
              <a:t> приложений</a:t>
            </a:r>
            <a:endParaRPr lang="en-US" sz="28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B3986441-F279-4EFD-8B33-45CF5748C602}"/>
              </a:ext>
            </a:extLst>
          </p:cNvPr>
          <p:cNvSpPr txBox="1"/>
          <p:nvPr/>
        </p:nvSpPr>
        <p:spPr bwMode="auto">
          <a:xfrm>
            <a:off x="334963" y="1346400"/>
            <a:ext cx="11143038" cy="5232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Технология хранения данных в </a:t>
            </a:r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виде графа </a:t>
            </a:r>
            <a:r>
              <a:rPr lang="ru-RU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обеспечивает широкие возможности для умного анализа данных, создания ИИ-агентов и low-code разработки, гарантируя гибкость приложений и внесение изменений без остановки работы.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22C90DDA-7B37-C5C4-7DED-9FBC8F2A6B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 bwMode="auto">
          <a:xfrm>
            <a:off x="473929" y="2234747"/>
            <a:ext cx="7199999" cy="444888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852F802-A085-B8BB-8084-5B01388A46CE}"/>
              </a:ext>
            </a:extLst>
          </p:cNvPr>
          <p:cNvGrpSpPr/>
          <p:nvPr/>
        </p:nvGrpSpPr>
        <p:grpSpPr>
          <a:xfrm>
            <a:off x="8472488" y="5724731"/>
            <a:ext cx="3384550" cy="799894"/>
            <a:chOff x="8472488" y="5400881"/>
            <a:chExt cx="3384550" cy="79989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AE8EBCD-73AD-40A4-F4A1-C73E5F1DD667}"/>
                </a:ext>
              </a:extLst>
            </p:cNvPr>
            <p:cNvSpPr/>
            <p:nvPr/>
          </p:nvSpPr>
          <p:spPr>
            <a:xfrm>
              <a:off x="8472488" y="5400881"/>
              <a:ext cx="3384550" cy="799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Y"/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7711AD47-BFD2-462D-8594-27BE21688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0113" y="5569310"/>
              <a:ext cx="609259" cy="46303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E70C4-7F2E-40DC-A50A-68C6BC43D91F}"/>
                </a:ext>
              </a:extLst>
            </p:cNvPr>
            <p:cNvSpPr txBox="1"/>
            <p:nvPr/>
          </p:nvSpPr>
          <p:spPr>
            <a:xfrm>
              <a:off x="9401257" y="5593079"/>
              <a:ext cx="2303895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000" b="0" i="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Comindware была названа победителем </a:t>
              </a:r>
              <a:r>
                <a:rPr lang="en-US" sz="1000" b="0" i="0" dirty="0" err="1">
                  <a:solidFill>
                    <a:srgbClr val="00000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Graphie</a:t>
              </a:r>
              <a:r>
                <a:rPr lang="en-US" sz="1000" b="0" i="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 Award</a:t>
              </a:r>
              <a:endParaRPr lang="ru-RU" sz="1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245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8DFDFA38-1AE0-4371-B085-A2A55AF25113}"/>
              </a:ext>
            </a:extLst>
          </p:cNvPr>
          <p:cNvSpPr/>
          <p:nvPr/>
        </p:nvSpPr>
        <p:spPr bwMode="auto">
          <a:xfrm>
            <a:off x="334962" y="3812083"/>
            <a:ext cx="11704594" cy="461665"/>
          </a:xfrm>
          <a:prstGeom prst="rect">
            <a:avLst/>
          </a:prstGeom>
          <a:grpFill/>
        </p:spPr>
        <p:txBody>
          <a:bodyPr wrap="square" lIns="0">
            <a:spAutoFit/>
          </a:bodyPr>
          <a:lstStyle/>
          <a:p>
            <a:pPr algn="ctr">
              <a:defRPr/>
            </a:pPr>
            <a:r>
              <a:rPr lang="ru-RU" sz="2400" b="0" i="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Общая цифровая среда для процессов, людей и технологий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13E41777-F3E9-4F25-B84F-811E265D05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29289" y="1689951"/>
            <a:ext cx="3133422" cy="3478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269849-87D2-42B2-8A9E-34D18085A408}"/>
              </a:ext>
            </a:extLst>
          </p:cNvPr>
          <p:cNvSpPr txBox="1"/>
          <p:nvPr/>
        </p:nvSpPr>
        <p:spPr bwMode="auto">
          <a:xfrm>
            <a:off x="334962" y="2342315"/>
            <a:ext cx="11522075" cy="1015663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marL="15190" algn="ctr">
              <a:defRPr/>
            </a:pPr>
            <a:r>
              <a:rPr lang="en-GB" sz="6000" dirty="0">
                <a:latin typeface="Calibri" panose="020F0502020204030204" pitchFamily="34" charset="0"/>
                <a:ea typeface="PT Sans Regular"/>
                <a:cs typeface="Calibri" panose="020F0502020204030204" pitchFamily="34" charset="0"/>
              </a:rPr>
              <a:t>Comindware Platform</a:t>
            </a:r>
            <a:endParaRPr lang="ru-RU" sz="6000" dirty="0">
              <a:latin typeface="Calibri" panose="020F0502020204030204" pitchFamily="34" charset="0"/>
              <a:ea typeface="PT Sans Regular"/>
              <a:cs typeface="Calibri" panose="020F050202020403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3856557-F8B7-4BE8-B284-A3C81ED7CEF9}"/>
              </a:ext>
            </a:extLst>
          </p:cNvPr>
          <p:cNvSpPr/>
          <p:nvPr/>
        </p:nvSpPr>
        <p:spPr bwMode="auto">
          <a:xfrm>
            <a:off x="952901" y="4273748"/>
            <a:ext cx="10520413" cy="307777"/>
          </a:xfrm>
          <a:prstGeom prst="rect">
            <a:avLst/>
          </a:prstGeom>
          <a:grpFill/>
        </p:spPr>
        <p:txBody>
          <a:bodyPr wrap="square" lIns="0">
            <a:spAutoFit/>
          </a:bodyPr>
          <a:lstStyle/>
          <a:p>
            <a:pPr algn="ctr">
              <a:defRPr/>
            </a:pPr>
            <a:r>
              <a:rPr lang="ru-RU" sz="1400" b="0" i="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Единая платформа для управления процессами, построения бизнес-приложений и оркестрации ИТ-систем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883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7554B0D-5936-D1FF-96B9-9DEF532A035D}"/>
              </a:ext>
            </a:extLst>
          </p:cNvPr>
          <p:cNvSpPr/>
          <p:nvPr/>
        </p:nvSpPr>
        <p:spPr bwMode="auto">
          <a:xfrm>
            <a:off x="334963" y="709200"/>
            <a:ext cx="11331520" cy="55265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</a:pPr>
            <a:r>
              <a:rPr lang="ru-RU" sz="2800" dirty="0">
                <a:latin typeface="Calibri" panose="020F0502020204030204" pitchFamily="34" charset="0"/>
                <a:cs typeface="Calibri"/>
              </a:rPr>
              <a:t>Платформа для комплексной цифровизации </a:t>
            </a:r>
            <a:endParaRPr lang="en-US" sz="28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566C3-128E-45B4-B43B-8C379B683802}"/>
              </a:ext>
            </a:extLst>
          </p:cNvPr>
          <p:cNvSpPr txBox="1"/>
          <p:nvPr/>
        </p:nvSpPr>
        <p:spPr bwMode="auto">
          <a:xfrm>
            <a:off x="334963" y="5624104"/>
            <a:ext cx="3421062" cy="719034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Автоматизация бизнес-процессов и создание бизнес-приложений под конкретные задачи для сотрудников и ИИ.</a:t>
            </a:r>
            <a:endParaRPr lang="en-US" sz="14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9C313F-D60D-4C5D-AB9E-717EEDB0EB3E}"/>
              </a:ext>
            </a:extLst>
          </p:cNvPr>
          <p:cNvSpPr txBox="1"/>
          <p:nvPr/>
        </p:nvSpPr>
        <p:spPr bwMode="auto">
          <a:xfrm>
            <a:off x="4440238" y="5624104"/>
            <a:ext cx="3311525" cy="719034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lvl="0"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Создание ИИ-агентов, координация совместной работы различных ИТ-систем, внешних и внутренних сервисов.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257BC84-E58D-40ED-BCC0-30C0A2933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963" y="1989214"/>
            <a:ext cx="3315666" cy="316946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2648D25-A267-4219-A36E-8F9743DACB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40239" y="2557295"/>
            <a:ext cx="3315663" cy="20332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036A2E-60CD-4FDA-85BD-40C076F722A1}"/>
              </a:ext>
            </a:extLst>
          </p:cNvPr>
          <p:cNvSpPr txBox="1"/>
          <p:nvPr/>
        </p:nvSpPr>
        <p:spPr>
          <a:xfrm>
            <a:off x="334963" y="1346400"/>
            <a:ext cx="11099476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ru-RU" sz="1400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Comindware </a:t>
            </a:r>
            <a:r>
              <a:rPr lang="en-US" sz="1400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Platform</a:t>
            </a:r>
            <a:r>
              <a:rPr lang="ru-RU" sz="1400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— это единая цифровая среда, которая объединяет три ключевых элемента бизнеса: процессы, людей и технологии.</a:t>
            </a:r>
            <a:endParaRPr lang="ru-RU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9E2154-53A0-588D-52AA-E2A547861D46}"/>
              </a:ext>
            </a:extLst>
          </p:cNvPr>
          <p:cNvSpPr txBox="1"/>
          <p:nvPr/>
        </p:nvSpPr>
        <p:spPr bwMode="auto">
          <a:xfrm>
            <a:off x="8458300" y="5624104"/>
            <a:ext cx="3393924" cy="719034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lvl="0">
              <a:defRPr/>
            </a:pP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Управление корпоративной архитектурой, сквозными и кросс-функциональными</a:t>
            </a:r>
            <a:r>
              <a:rPr lang="en-US" sz="1400" dirty="0">
                <a:latin typeface="Calibri" panose="020F0502020204030204" pitchFamily="34" charset="0"/>
                <a:ea typeface="PT Sans Regular"/>
                <a:cs typeface="Calibri"/>
              </a:rPr>
              <a:t> </a:t>
            </a: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бизнес-процессами.</a:t>
            </a:r>
            <a:endParaRPr lang="ru-RU" sz="1400" dirty="0">
              <a:solidFill>
                <a:srgbClr val="FF0000"/>
              </a:solidFill>
              <a:latin typeface="Calibri" panose="020F0502020204030204" pitchFamily="34" charset="0"/>
              <a:ea typeface="PT Sans Regular"/>
              <a:cs typeface="Calibri"/>
            </a:endParaRPr>
          </a:p>
        </p:txBody>
      </p:sp>
      <p:pic>
        <p:nvPicPr>
          <p:cNvPr id="3" name="Рисунок 26">
            <a:extLst>
              <a:ext uri="{FF2B5EF4-FFF2-40B4-BE49-F238E27FC236}">
                <a16:creationId xmlns:a16="http://schemas.microsoft.com/office/drawing/2014/main" id="{FB6DCBB2-5C5A-5EBC-2E80-3614FFCD29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72488" y="2409565"/>
            <a:ext cx="3396997" cy="232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040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8">
            <a:extLst>
              <a:ext uri="{FF2B5EF4-FFF2-40B4-BE49-F238E27FC236}">
                <a16:creationId xmlns:a16="http://schemas.microsoft.com/office/drawing/2014/main" id="{2AFB745E-D0AD-4C85-C78E-B2F187F9C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1881557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sp>
        <p:nvSpPr>
          <p:cNvPr id="1502157273" name="TextBox 8"/>
          <p:cNvSpPr txBox="1"/>
          <p:nvPr/>
        </p:nvSpPr>
        <p:spPr bwMode="auto">
          <a:xfrm>
            <a:off x="334963" y="709200"/>
            <a:ext cx="11018088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Автоматизация бизнес-процессов</a:t>
            </a:r>
          </a:p>
        </p:txBody>
      </p:sp>
      <p:sp>
        <p:nvSpPr>
          <p:cNvPr id="835134742" name="Rectangle 5"/>
          <p:cNvSpPr/>
          <p:nvPr/>
        </p:nvSpPr>
        <p:spPr bwMode="auto">
          <a:xfrm>
            <a:off x="8832850" y="1915200"/>
            <a:ext cx="3135623" cy="4939814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Гибкая автоматизация бизнес-логики с применением ИИ</a:t>
            </a:r>
            <a:endParaRPr lang="en-US" sz="1400" u="none" strike="noStrike" cap="none" spc="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pPr>
              <a:spcAft>
                <a:spcPts val="600"/>
              </a:spcAft>
              <a:defRPr/>
            </a:pPr>
            <a:endParaRPr sz="1400" u="none" strike="noStrike" cap="none" spc="0" dirty="0">
              <a:latin typeface="Calibri" panose="020F0502020204030204" pitchFamily="34" charset="0"/>
              <a:cs typeface="Calibri"/>
            </a:endParaRP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sz="1400" dirty="0" err="1">
                <a:latin typeface="Calibri" panose="020F0502020204030204" pitchFamily="34" charset="0"/>
                <a:cs typeface="Calibri"/>
              </a:rPr>
              <a:t>Автоматизация</a:t>
            </a:r>
            <a:r>
              <a:rPr sz="1400" dirty="0">
                <a:latin typeface="Calibri" panose="020F0502020204030204" pitchFamily="34" charset="0"/>
                <a:cs typeface="Calibri"/>
              </a:rPr>
              <a:t> 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визуализированных в</a:t>
            </a:r>
            <a:r>
              <a:rPr sz="1400" dirty="0">
                <a:latin typeface="Calibri" panose="020F0502020204030204" pitchFamily="34" charset="0"/>
                <a:cs typeface="Calibri"/>
              </a:rPr>
              <a:t> BPMN 2.0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 процессов, их </a:t>
            </a:r>
            <a:r>
              <a:rPr lang="ru-RU" sz="1400" dirty="0" err="1">
                <a:latin typeface="Calibri" panose="020F0502020204030204" pitchFamily="34" charset="0"/>
                <a:cs typeface="Calibri"/>
              </a:rPr>
              <a:t>версионирование</a:t>
            </a:r>
            <a:endParaRPr sz="1400" dirty="0">
              <a:latin typeface="Calibri" panose="020F0502020204030204" pitchFamily="34" charset="0"/>
              <a:cs typeface="Calibri"/>
            </a:endParaRP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Low-code настройка логики, экранных форм и интеграций</a:t>
            </a: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Автоматизация бизнес-сценариев и обработка данных с применением ИИ-агентов</a:t>
            </a: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ИИ-чаты в привязке к контексту: задаче, записи, списку и т.д.</a:t>
            </a:r>
            <a:endParaRPr lang="en-US" sz="1400" dirty="0">
              <a:latin typeface="Calibri" panose="020F0502020204030204" pitchFamily="34" charset="0"/>
              <a:cs typeface="Calibri"/>
            </a:endParaRP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 err="1">
                <a:latin typeface="Calibri" panose="020F0502020204030204" pitchFamily="34" charset="0"/>
                <a:cs typeface="Calibri"/>
              </a:rPr>
              <a:t>Автообновление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 модели данных при добавлении или удалении атрибутов</a:t>
            </a: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Объединение разрозненных задач в цельные бизнес-приложения (управление продажами, закупками, недвижимостью и др.)</a:t>
            </a:r>
            <a:endParaRPr sz="14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7" name="Rectangle 6" hidden="1"/>
          <p:cNvSpPr/>
          <p:nvPr/>
        </p:nvSpPr>
        <p:spPr bwMode="auto">
          <a:xfrm>
            <a:off x="7000100" y="2925299"/>
            <a:ext cx="632600" cy="227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C6736BF-1E0A-4EE1-85B2-F94EB6C8D0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1881556"/>
            <a:ext cx="8136000" cy="4976444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A3509F2-4061-4FE8-B4B9-8216A2DF34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1881556"/>
            <a:ext cx="8136000" cy="4976444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4F5B56-9AD8-0230-C56E-2969447EEA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1882800"/>
            <a:ext cx="7824339" cy="4975200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D742524-2453-4A79-A0B7-C6E812888E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963" y="1881557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510C592-A2D4-4C0C-A82F-F4A91AC257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1881557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CDA280-3EDD-BAD9-51B2-DB61240732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963" y="1881557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4FA4C9-30CF-2C3B-EC05-3C99C0DE4B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963" y="1881557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1AC6C5-9FC4-343A-CABB-9238910548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963" y="1882800"/>
            <a:ext cx="8133968" cy="4975200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BE511D0-1C59-4675-B14C-BF42B0123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1881557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647112" name="TextBox 8"/>
          <p:cNvSpPr txBox="1"/>
          <p:nvPr/>
        </p:nvSpPr>
        <p:spPr bwMode="auto">
          <a:xfrm>
            <a:off x="334962" y="709200"/>
            <a:ext cx="10469161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Создание ИИ-агентов и объединение ИТ-систем</a:t>
            </a:r>
            <a:endParaRPr dirty="0"/>
          </a:p>
        </p:txBody>
      </p:sp>
      <p:sp>
        <p:nvSpPr>
          <p:cNvPr id="1701228724" name="Rectangle 5"/>
          <p:cNvSpPr/>
          <p:nvPr/>
        </p:nvSpPr>
        <p:spPr bwMode="auto">
          <a:xfrm>
            <a:off x="8832850" y="1916113"/>
            <a:ext cx="3014091" cy="4431983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spcAft>
                <a:spcPts val="599"/>
              </a:spcAft>
              <a:buClr>
                <a:schemeClr val="tx1"/>
              </a:buClr>
              <a:defRPr/>
            </a:pPr>
            <a:r>
              <a:rPr lang="en-US" sz="1400" dirty="0">
                <a:latin typeface="Calibri" panose="020F0502020204030204" pitchFamily="34" charset="0"/>
                <a:cs typeface="Calibri"/>
              </a:rPr>
              <a:t>Low-code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 настройка ИИ-агентов и сценариев взаимодействия ИТ-систем:</a:t>
            </a:r>
          </a:p>
          <a:p>
            <a:pPr marL="285750" indent="-285750">
              <a:spcAft>
                <a:spcPts val="599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Поддержка цепочек действий по обработке данных и передаче событий во внешние системы.</a:t>
            </a:r>
          </a:p>
          <a:p>
            <a:pPr marL="285750" indent="-285750">
              <a:spcAft>
                <a:spcPts val="599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Запуск сценариев по наступлению событий или вручную.</a:t>
            </a:r>
            <a:endParaRPr lang="en-US" sz="1400" dirty="0">
              <a:latin typeface="Calibri" panose="020F0502020204030204" pitchFamily="34" charset="0"/>
              <a:cs typeface="Calibri"/>
            </a:endParaRPr>
          </a:p>
          <a:p>
            <a:pPr marL="285750" indent="-285750">
              <a:spcAft>
                <a:spcPts val="599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Поддержка протоколов обмена данными: GET, POST, XML, JSON, </a:t>
            </a:r>
            <a:r>
              <a:rPr lang="ru-RU" sz="1400" dirty="0" err="1">
                <a:latin typeface="Calibri" panose="020F0502020204030204" pitchFamily="34" charset="0"/>
                <a:cs typeface="Calibri"/>
              </a:rPr>
              <a:t>OData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, SMTP, IMAP, Exchange, </a:t>
            </a:r>
            <a:r>
              <a:rPr lang="ru-RU" sz="1400" dirty="0" err="1">
                <a:latin typeface="Calibri" panose="020F0502020204030204" pitchFamily="34" charset="0"/>
                <a:cs typeface="Calibri"/>
              </a:rPr>
              <a:t>RabbitMQ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.</a:t>
            </a:r>
          </a:p>
          <a:p>
            <a:pPr marL="285750" indent="-285750">
              <a:spcAft>
                <a:spcPts val="599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Готовые адаптеры к популярным системам.</a:t>
            </a:r>
          </a:p>
          <a:p>
            <a:pPr marL="285750" indent="-285750">
              <a:spcAft>
                <a:spcPts val="599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Самогенерирующийся API.</a:t>
            </a:r>
          </a:p>
          <a:p>
            <a:pPr marL="285750" indent="-285750">
              <a:spcAft>
                <a:spcPts val="599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Интеграция с внутренними и внешними LLM (ChatGPT, </a:t>
            </a:r>
            <a:r>
              <a:rPr lang="ru-RU" sz="1400" dirty="0" err="1">
                <a:latin typeface="Calibri" panose="020F0502020204030204" pitchFamily="34" charset="0"/>
                <a:cs typeface="Calibri"/>
              </a:rPr>
              <a:t>DeepSeek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, </a:t>
            </a:r>
            <a:r>
              <a:rPr lang="ru-RU" sz="1400" dirty="0" err="1">
                <a:latin typeface="Calibri" panose="020F0502020204030204" pitchFamily="34" charset="0"/>
                <a:cs typeface="Calibri"/>
              </a:rPr>
              <a:t>YandexGPT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 и др.).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7C9D50-1108-499E-B8B6-5971A2FA6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059" y="2014302"/>
            <a:ext cx="7340977" cy="4490162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5">
            <a:extLst>
              <a:ext uri="{FF2B5EF4-FFF2-40B4-BE49-F238E27FC236}">
                <a16:creationId xmlns:a16="http://schemas.microsoft.com/office/drawing/2014/main" id="{47AB1CF4-1FCA-5004-6D3C-95264BB06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488" y="1881556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sp>
        <p:nvSpPr>
          <p:cNvPr id="1821822215" name="Rectangle 7"/>
          <p:cNvSpPr/>
          <p:nvPr/>
        </p:nvSpPr>
        <p:spPr bwMode="auto">
          <a:xfrm>
            <a:off x="334962" y="709200"/>
            <a:ext cx="11561475" cy="55265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</a:pPr>
            <a:r>
              <a:rPr lang="ru-RU" sz="2800" dirty="0">
                <a:latin typeface="Calibri" panose="020F0502020204030204" pitchFamily="34" charset="0"/>
                <a:cs typeface="Calibri"/>
              </a:rPr>
              <a:t>Единая среда управления бизнес-процессами</a:t>
            </a:r>
            <a:endParaRPr lang="en-GB" sz="28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68370533" name="TextBox 1286462796"/>
          <p:cNvSpPr txBox="1"/>
          <p:nvPr/>
        </p:nvSpPr>
        <p:spPr bwMode="auto">
          <a:xfrm>
            <a:off x="8832850" y="1916113"/>
            <a:ext cx="3022422" cy="4112216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Превращение стратегии в оперативное исполнение и контроль: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Реестр всех бизнес-процессов организации с указанием из взаимосвязей по бизнес-логике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Оргструктура компании с привязкой к процессам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Автоматическая генерация регламентов и положений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Автоматизированные процессы согласования изменений реестра и моделей процессов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Возможность перевода неисполняемых моделей процессов в исполняемые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97A428F-6DC0-4E12-A92B-8CBF7392F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488" y="1881556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D7472D9-64D3-4FBA-B3F7-C4B5D2C14E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488" y="1881556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A79D6D5-D064-478B-8E4E-8501AE5D67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88" y="1881555"/>
            <a:ext cx="8136000" cy="4976444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A46AFAB-B373-4662-BD8A-8A6D80281C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88" y="1881555"/>
            <a:ext cx="8136000" cy="4976444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BB5B943-8194-4172-A17F-E4E275D91C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488" y="1881556"/>
            <a:ext cx="8135998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790F5C-6994-4AB0-B37B-F9B3F3D22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488" y="1881556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66B0AA-235B-0646-B470-E069C0B29F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29289" y="1689951"/>
            <a:ext cx="3133422" cy="34780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334962" y="2890391"/>
            <a:ext cx="11522076" cy="1077218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>
            <a:defPPr>
              <a:defRPr lang="en-US"/>
            </a:defPPr>
            <a:lvl1pPr marL="14288">
              <a:defRPr sz="4000">
                <a:latin typeface="Trebuchet MS"/>
                <a:ea typeface="PT Sans"/>
                <a:cs typeface="Calibri"/>
              </a:defRPr>
            </a:lvl1pPr>
          </a:lstStyle>
          <a:p>
            <a:pPr algn="ctr">
              <a:defRPr/>
            </a:pPr>
            <a:r>
              <a:rPr lang="ru-RU" sz="3200" dirty="0">
                <a:solidFill>
                  <a:srgbClr val="0F1115"/>
                </a:solidFill>
                <a:effectLst/>
                <a:latin typeface="Calibri" panose="020F0502020204030204" pitchFamily="34" charset="0"/>
              </a:rPr>
              <a:t>Полный контроль над приложениями:</a:t>
            </a:r>
          </a:p>
          <a:p>
            <a:pPr algn="ctr">
              <a:defRPr/>
            </a:pPr>
            <a:r>
              <a:rPr lang="ru-RU" sz="3200" dirty="0">
                <a:solidFill>
                  <a:srgbClr val="0F1115"/>
                </a:solidFill>
                <a:effectLst/>
                <a:latin typeface="Calibri" panose="020F0502020204030204" pitchFamily="34" charset="0"/>
              </a:rPr>
              <a:t>от создания до разграничения прав</a:t>
            </a:r>
            <a:endParaRPr sz="3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023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57273" name="TextBox 8"/>
          <p:cNvSpPr txBox="1"/>
          <p:nvPr/>
        </p:nvSpPr>
        <p:spPr bwMode="auto">
          <a:xfrm>
            <a:off x="348509" y="709200"/>
            <a:ext cx="11175811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en-US" dirty="0"/>
              <a:t>Low-code </a:t>
            </a:r>
            <a:r>
              <a:rPr lang="ru-RU" dirty="0"/>
              <a:t>среда для создания бизнес-приложений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60D1F9D7-88A5-4D96-94DC-5FBE2165DF4F}"/>
              </a:ext>
            </a:extLst>
          </p:cNvPr>
          <p:cNvSpPr/>
          <p:nvPr/>
        </p:nvSpPr>
        <p:spPr bwMode="auto">
          <a:xfrm>
            <a:off x="348509" y="1936800"/>
            <a:ext cx="2892944" cy="2062103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Редактор бизнес-процессов</a:t>
            </a: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Редактор экранных форм</a:t>
            </a: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Управление моделью данных</a:t>
            </a: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Редактор справочников</a:t>
            </a: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Визуализация данных</a:t>
            </a: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Управление сценариями</a:t>
            </a: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Кастомизация интерфейса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0F6184-322F-4F72-A42E-ACD730CC4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025" y="1881556"/>
            <a:ext cx="8136000" cy="4976444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6E9DDD5-3255-4D69-998F-D692B8D52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025" y="1881556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B80527F-A258-47F7-93AC-6793B03C32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025" y="1881556"/>
            <a:ext cx="8136000" cy="4976444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8B31C2E-CD1A-4CBA-8F9E-F598A55841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025" y="1881556"/>
            <a:ext cx="8136000" cy="4976444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389B2C2-B5C1-474B-A324-2D48B8B039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025" y="1881556"/>
            <a:ext cx="8136000" cy="4976444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328A566-11D0-4739-963F-3F79234807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05000" y="1881556"/>
            <a:ext cx="8135998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2C2A843-AEE0-4209-9654-30FF8A7605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98" y="1881556"/>
            <a:ext cx="8136000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598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294710" name="Rectangle 7"/>
          <p:cNvSpPr/>
          <p:nvPr/>
        </p:nvSpPr>
        <p:spPr bwMode="auto">
          <a:xfrm>
            <a:off x="334962" y="709200"/>
            <a:ext cx="8470499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</a:pPr>
            <a:r>
              <a:rPr lang="ru-RU" sz="2800" dirty="0">
                <a:latin typeface="Calibri" panose="020F0502020204030204" pitchFamily="34" charset="0"/>
                <a:cs typeface="Calibri"/>
              </a:rPr>
              <a:t>Управление данными и интерфейсами</a:t>
            </a:r>
          </a:p>
        </p:txBody>
      </p:sp>
      <p:sp>
        <p:nvSpPr>
          <p:cNvPr id="1863507035" name="TextBox 1286462796"/>
          <p:cNvSpPr txBox="1"/>
          <p:nvPr/>
        </p:nvSpPr>
        <p:spPr bwMode="auto">
          <a:xfrm>
            <a:off x="8832850" y="1809644"/>
            <a:ext cx="3139260" cy="4654479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400" dirty="0" err="1">
                <a:solidFill>
                  <a:srgbClr val="0F1115"/>
                </a:solidFill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</a:t>
            </a:r>
            <a:r>
              <a:rPr lang="ru-RU" sz="1400" dirty="0" err="1">
                <a:solidFill>
                  <a:srgbClr val="0F111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рафовая</a:t>
            </a:r>
            <a:r>
              <a:rPr lang="ru-RU" sz="1400" dirty="0">
                <a:solidFill>
                  <a:srgbClr val="0F111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модель данных обеспечивает: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Неограниченную сложность и вложенность данных.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Обновление модели данных «на лету» без реконфигурации БД.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Работу с косвенными связями, синхронизацией.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Понимание контекста и логические связи для ИИ-помощников и агентов.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Гибкие правила ввода и </a:t>
            </a:r>
            <a:r>
              <a:rPr lang="ru-RU" sz="1400" dirty="0" err="1">
                <a:latin typeface="Calibri" panose="020F0502020204030204" pitchFamily="34" charset="0"/>
                <a:cs typeface="Calibri"/>
              </a:rPr>
              <a:t>предзаполнения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 форм.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Визуализацию данных.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Разграничение прав доступа.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597FE1-D381-4998-AECB-C8E358A9D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489" y="1881557"/>
            <a:ext cx="8135998" cy="4976443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57273" name="TextBox 8"/>
          <p:cNvSpPr txBox="1"/>
          <p:nvPr/>
        </p:nvSpPr>
        <p:spPr bwMode="auto">
          <a:xfrm>
            <a:off x="334963" y="709200"/>
            <a:ext cx="11175811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Администрирование и права доступа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60D1F9D7-88A5-4D96-94DC-5FBE2165DF4F}"/>
              </a:ext>
            </a:extLst>
          </p:cNvPr>
          <p:cNvSpPr/>
          <p:nvPr/>
        </p:nvSpPr>
        <p:spPr bwMode="auto">
          <a:xfrm>
            <a:off x="334963" y="1916113"/>
            <a:ext cx="2892944" cy="1477328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Управление пользователями и ролями</a:t>
            </a: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Интеграция с LDAP</a:t>
            </a:r>
          </a:p>
          <a:p>
            <a:pPr marL="285750" indent="-285750">
              <a:spcAft>
                <a:spcPts val="1198"/>
              </a:spcAft>
              <a:buClr>
                <a:schemeClr val="tx1"/>
              </a:buClr>
              <a:buFont typeface="Wingdings"/>
              <a:buChar char="ü"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Журналирование действий пользователей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D4D0FCE-DDFB-4491-995C-AE3DDF94D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56025" y="1881555"/>
            <a:ext cx="8136000" cy="4976445"/>
          </a:xfrm>
          <a:prstGeom prst="rect">
            <a:avLst/>
          </a:prstGeom>
          <a:effectLst>
            <a:outerShdw blurRad="111185" sx="102000" sy="102000" algn="ctr" rotWithShape="0">
              <a:prstClr val="black">
                <a:alpha val="10332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4868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908567" y="1444060"/>
            <a:ext cx="5772101" cy="57721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334962" y="709200"/>
            <a:ext cx="11522076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Воплощение ИТ-решений</a:t>
            </a:r>
            <a:r>
              <a:rPr lang="en-US" dirty="0"/>
              <a:t> </a:t>
            </a:r>
            <a:r>
              <a:rPr lang="ru-RU" dirty="0"/>
              <a:t>для любых задач</a:t>
            </a:r>
            <a:endParaRPr dirty="0"/>
          </a:p>
        </p:txBody>
      </p:sp>
      <p:sp>
        <p:nvSpPr>
          <p:cNvPr id="35" name="Rectangle 9"/>
          <p:cNvSpPr/>
          <p:nvPr/>
        </p:nvSpPr>
        <p:spPr bwMode="auto">
          <a:xfrm>
            <a:off x="5130380" y="3103493"/>
            <a:ext cx="3421225" cy="175295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284400" indent="-28440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en-US" sz="1400" dirty="0" err="1">
                <a:latin typeface="Calibri" panose="020F0502020204030204" pitchFamily="34" charset="0"/>
                <a:ea typeface="PT Sans Regular"/>
                <a:cs typeface="Calibri"/>
              </a:rPr>
              <a:t>Управление</a:t>
            </a:r>
            <a:r>
              <a:rPr lang="en-US" sz="1400" dirty="0">
                <a:latin typeface="Calibri" panose="020F0502020204030204" pitchFamily="34" charset="0"/>
                <a:ea typeface="PT Sans Regular"/>
                <a:cs typeface="Calibri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PT Sans Regular"/>
                <a:cs typeface="Calibri"/>
              </a:rPr>
              <a:t>активами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4400" indent="-28440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en-US" sz="1400" dirty="0" err="1">
                <a:latin typeface="Calibri" panose="020F0502020204030204" pitchFamily="34" charset="0"/>
                <a:ea typeface="PT Sans Regular"/>
                <a:cs typeface="Calibri"/>
              </a:rPr>
              <a:t>Управление</a:t>
            </a:r>
            <a:r>
              <a:rPr lang="en-US" sz="1400" dirty="0">
                <a:latin typeface="Calibri" panose="020F0502020204030204" pitchFamily="34" charset="0"/>
                <a:ea typeface="PT Sans Regular"/>
                <a:cs typeface="Calibri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PT Sans Regular"/>
                <a:cs typeface="Calibri"/>
              </a:rPr>
              <a:t>портфолио</a:t>
            </a:r>
            <a:r>
              <a:rPr lang="en-US" sz="1400" dirty="0">
                <a:latin typeface="Calibri" panose="020F0502020204030204" pitchFamily="34" charset="0"/>
                <a:ea typeface="PT Sans Regular"/>
                <a:cs typeface="Calibri"/>
              </a:rPr>
              <a:t> и </a:t>
            </a:r>
            <a:r>
              <a:rPr lang="en-US" sz="1400" dirty="0" err="1">
                <a:latin typeface="Calibri" panose="020F0502020204030204" pitchFamily="34" charset="0"/>
                <a:ea typeface="PT Sans Regular"/>
                <a:cs typeface="Calibri"/>
              </a:rPr>
              <a:t>проектами</a:t>
            </a:r>
            <a:endParaRPr lang="ru-RU" sz="1400" dirty="0">
              <a:latin typeface="Calibri" panose="020F0502020204030204" pitchFamily="34" charset="0"/>
              <a:ea typeface="PT Sans Regular"/>
              <a:cs typeface="Calibri"/>
            </a:endParaRPr>
          </a:p>
          <a:p>
            <a:pPr marL="284400" indent="-28440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en-US" sz="1400" dirty="0">
                <a:latin typeface="Calibri" panose="020F0502020204030204" pitchFamily="34" charset="0"/>
                <a:ea typeface="PT Sans Regular"/>
                <a:cs typeface="Calibri"/>
              </a:rPr>
              <a:t>Финансы</a:t>
            </a:r>
            <a:endParaRPr lang="ru-RU" sz="1400" dirty="0">
              <a:latin typeface="Calibri" panose="020F0502020204030204" pitchFamily="34" charset="0"/>
              <a:ea typeface="PT Sans Regular"/>
              <a:cs typeface="Calibri"/>
            </a:endParaRPr>
          </a:p>
          <a:p>
            <a:pPr marL="284400" indent="-28440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en-US" sz="1400" dirty="0" err="1">
                <a:latin typeface="Calibri" panose="020F0502020204030204" pitchFamily="34" charset="0"/>
                <a:ea typeface="PT Sans Regular"/>
                <a:cs typeface="Calibri"/>
              </a:rPr>
              <a:t>Поставщики</a:t>
            </a:r>
            <a:r>
              <a:rPr lang="en-US" sz="1400" dirty="0">
                <a:latin typeface="Calibri" panose="020F0502020204030204" pitchFamily="34" charset="0"/>
                <a:ea typeface="PT Sans Regular"/>
                <a:cs typeface="Calibri"/>
              </a:rPr>
              <a:t> и </a:t>
            </a:r>
            <a:r>
              <a:rPr lang="en-US" sz="1400" dirty="0" err="1">
                <a:latin typeface="Calibri" panose="020F0502020204030204" pitchFamily="34" charset="0"/>
                <a:ea typeface="PT Sans Regular"/>
                <a:cs typeface="Calibri"/>
              </a:rPr>
              <a:t>закупки</a:t>
            </a:r>
            <a:endParaRPr lang="ru-RU" sz="1400" dirty="0">
              <a:latin typeface="Calibri" panose="020F0502020204030204" pitchFamily="34" charset="0"/>
              <a:ea typeface="PT Sans Regular"/>
              <a:cs typeface="Calibri"/>
            </a:endParaRPr>
          </a:p>
          <a:p>
            <a:pPr marL="284400" indent="-28440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Управление кадрами</a:t>
            </a:r>
            <a:endParaRPr dirty="0">
              <a:latin typeface="Calibri" panose="020F0502020204030204" pitchFamily="34" charset="0"/>
              <a:cs typeface="Calibri"/>
            </a:endParaRPr>
          </a:p>
          <a:p>
            <a:pPr marL="284400" indent="-28440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en-US" sz="1400" dirty="0">
                <a:latin typeface="Calibri" panose="020F0502020204030204" pitchFamily="34" charset="0"/>
                <a:ea typeface="PT Sans Regular"/>
                <a:cs typeface="Calibri"/>
              </a:rPr>
              <a:t>Продаж</a:t>
            </a: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и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70" name="Rectangle 5"/>
          <p:cNvSpPr/>
          <p:nvPr/>
        </p:nvSpPr>
        <p:spPr bwMode="auto">
          <a:xfrm>
            <a:off x="4440237" y="1346400"/>
            <a:ext cx="7429039" cy="51851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Поддержка создания любых бизнес-приложений, в которых участвуют данные, люди и процессы </a:t>
            </a:r>
            <a:r>
              <a:rPr lang="en-US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—</a:t>
            </a: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 от простых CRM до цифровых двойников зданий.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6" name="Rectangle 9"/>
          <p:cNvSpPr/>
          <p:nvPr/>
        </p:nvSpPr>
        <p:spPr bwMode="auto">
          <a:xfrm>
            <a:off x="8753146" y="3090955"/>
            <a:ext cx="3356594" cy="175295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284400" indent="-28440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Открытие новых торговых точек</a:t>
            </a:r>
            <a:endParaRPr dirty="0">
              <a:latin typeface="Calibri" panose="020F0502020204030204" pitchFamily="34" charset="0"/>
              <a:cs typeface="Calibri"/>
            </a:endParaRPr>
          </a:p>
          <a:p>
            <a:pPr marL="284400" indent="-28440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en-US" sz="1400" dirty="0" err="1">
                <a:latin typeface="Calibri" panose="020F0502020204030204" pitchFamily="34" charset="0"/>
                <a:ea typeface="PT Sans Regular"/>
                <a:cs typeface="Calibri"/>
              </a:rPr>
              <a:t>Обслуживани</a:t>
            </a: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е</a:t>
            </a:r>
            <a:endParaRPr lang="en-US" sz="1400" dirty="0">
              <a:latin typeface="Calibri" panose="020F0502020204030204" pitchFamily="34" charset="0"/>
              <a:ea typeface="PT Sans Regular"/>
              <a:cs typeface="Calibri"/>
            </a:endParaRPr>
          </a:p>
          <a:p>
            <a:pPr marL="284400" indent="-28440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en-US" sz="1400" dirty="0" err="1">
                <a:latin typeface="Calibri" panose="020F0502020204030204" pitchFamily="34" charset="0"/>
                <a:ea typeface="PT Sans Regular"/>
                <a:cs typeface="Calibri"/>
              </a:rPr>
              <a:t>Управление</a:t>
            </a:r>
            <a:r>
              <a:rPr lang="en-US" sz="1400" dirty="0">
                <a:latin typeface="Calibri" panose="020F0502020204030204" pitchFamily="34" charset="0"/>
                <a:ea typeface="PT Sans Regular"/>
                <a:cs typeface="Calibri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PT Sans Regular"/>
                <a:cs typeface="Calibri"/>
              </a:rPr>
              <a:t>продуктами</a:t>
            </a:r>
            <a:endParaRPr lang="ru-RU" sz="1400" dirty="0">
              <a:latin typeface="Calibri" panose="020F0502020204030204" pitchFamily="34" charset="0"/>
              <a:ea typeface="PT Sans Regular"/>
              <a:cs typeface="Calibri"/>
            </a:endParaRPr>
          </a:p>
          <a:p>
            <a:pPr marL="284400" indent="-28440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Логистика</a:t>
            </a:r>
            <a:endParaRPr lang="en-US" sz="1400" dirty="0">
              <a:latin typeface="Calibri" panose="020F0502020204030204" pitchFamily="34" charset="0"/>
              <a:ea typeface="PT Sans Regular"/>
              <a:cs typeface="Calibri"/>
            </a:endParaRPr>
          </a:p>
          <a:p>
            <a:pPr marL="284400" indent="-28440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Контроль качества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599"/>
              </a:spcAft>
              <a:defRPr/>
            </a:pPr>
            <a:r>
              <a:rPr lang="ru-RU" sz="1400" dirty="0">
                <a:latin typeface="Calibri" panose="020F0502020204030204" pitchFamily="34" charset="0"/>
                <a:ea typeface="PT Sans Regular"/>
                <a:cs typeface="Calibri"/>
              </a:rPr>
              <a:t>и многие другие.</a:t>
            </a:r>
            <a:endParaRPr lang="en-US" sz="1400" dirty="0">
              <a:latin typeface="Calibri" panose="020F0502020204030204" pitchFamily="34" charset="0"/>
              <a:ea typeface="PT Sans Regular"/>
              <a:cs typeface="Calibri"/>
            </a:endParaRPr>
          </a:p>
        </p:txBody>
      </p:sp>
      <p:sp>
        <p:nvSpPr>
          <p:cNvPr id="1935127474" name="TextBox 1935127473"/>
          <p:cNvSpPr txBox="1"/>
          <p:nvPr/>
        </p:nvSpPr>
        <p:spPr bwMode="auto">
          <a:xfrm>
            <a:off x="5130380" y="2746524"/>
            <a:ext cx="2459915" cy="311432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1400" dirty="0">
                <a:latin typeface="Calibri" panose="020F0502020204030204" pitchFamily="34" charset="0"/>
                <a:ea typeface="Trebuchet MS"/>
                <a:cs typeface="Calibri" panose="020F0502020204030204" pitchFamily="34" charset="0"/>
              </a:rPr>
              <a:t>Примеры решений: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5"/>
          <p:cNvSpPr/>
          <p:nvPr/>
        </p:nvSpPr>
        <p:spPr bwMode="auto">
          <a:xfrm>
            <a:off x="5130379" y="5157263"/>
            <a:ext cx="6727376" cy="73187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  <a:t>Приложения, созданные на одной платформе не требуют взаимных интеграций, экономят время на обучении, ускоряют разработку и позволяют избежать дублирования процессов и функционала.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" name="TextBox 8">
            <a:extLst>
              <a:ext uri="{FF2B5EF4-FFF2-40B4-BE49-F238E27FC236}">
                <a16:creationId xmlns:a16="http://schemas.microsoft.com/office/drawing/2014/main" id="{2A0132DA-3A3C-4875-A5E8-F06201D6EAC5}"/>
              </a:ext>
            </a:extLst>
          </p:cNvPr>
          <p:cNvSpPr txBox="1"/>
          <p:nvPr/>
        </p:nvSpPr>
        <p:spPr bwMode="auto">
          <a:xfrm>
            <a:off x="334963" y="709200"/>
            <a:ext cx="10285324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Популярные интеграции</a:t>
            </a:r>
            <a:endParaRPr dirty="0"/>
          </a:p>
        </p:txBody>
      </p:sp>
      <p:pic>
        <p:nvPicPr>
          <p:cNvPr id="2" name="Рисунок 376340419">
            <a:extLst>
              <a:ext uri="{FF2B5EF4-FFF2-40B4-BE49-F238E27FC236}">
                <a16:creationId xmlns:a16="http://schemas.microsoft.com/office/drawing/2014/main" id="{F92C72C5-5EFB-4F25-4165-B6705FA901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6835" y="1916838"/>
            <a:ext cx="1440000" cy="7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4BAE41-A6DB-75DD-41B5-4D44F58DC7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305" y="3825630"/>
            <a:ext cx="1440000" cy="7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39EBAA-DEC2-02D3-86E6-AB478F696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603" y="2871234"/>
            <a:ext cx="1440000" cy="7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CD8010-6C57-C1FC-B90A-342732C3A4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305" y="2871234"/>
            <a:ext cx="1440000" cy="72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BA9E92-F00D-CD80-1376-F017091BC2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53" y="2871234"/>
            <a:ext cx="1440000" cy="72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C44A59-3851-F93B-2147-999975CE27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903" y="2871234"/>
            <a:ext cx="1440000" cy="72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E84528-D5F4-5376-27CE-D02C2F4589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53" y="3825630"/>
            <a:ext cx="1440000" cy="72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A6F938D-3C7F-B584-69EF-49370B44BD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53" y="3825630"/>
            <a:ext cx="1440000" cy="72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63BE979-1900-DC17-49CD-E5BA113BED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603" y="3825630"/>
            <a:ext cx="1440000" cy="7200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213FC1F0-BFC0-4D37-B696-5E728B18EA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453" y="3825630"/>
            <a:ext cx="1440000" cy="72000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A00A6B64-206E-4DFC-906F-3587DD9FA5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53" y="2871234"/>
            <a:ext cx="1440000" cy="72000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465F9EF5-C79F-4630-9CF7-DC6320A4DD5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305" y="1916838"/>
            <a:ext cx="1440000" cy="720000"/>
          </a:xfrm>
          <a:prstGeom prst="rect">
            <a:avLst/>
          </a:prstGeom>
        </p:spPr>
      </p:pic>
      <p:pic>
        <p:nvPicPr>
          <p:cNvPr id="376340418" name="Рисунок 376340417">
            <a:extLst>
              <a:ext uri="{FF2B5EF4-FFF2-40B4-BE49-F238E27FC236}">
                <a16:creationId xmlns:a16="http://schemas.microsoft.com/office/drawing/2014/main" id="{BF48CF2E-7524-48E7-9F25-FA6D8C73FC1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1916838"/>
            <a:ext cx="1440000" cy="720000"/>
          </a:xfrm>
          <a:prstGeom prst="rect">
            <a:avLst/>
          </a:prstGeom>
        </p:spPr>
      </p:pic>
      <p:pic>
        <p:nvPicPr>
          <p:cNvPr id="376340420" name="Рисунок 376340419">
            <a:extLst>
              <a:ext uri="{FF2B5EF4-FFF2-40B4-BE49-F238E27FC236}">
                <a16:creationId xmlns:a16="http://schemas.microsoft.com/office/drawing/2014/main" id="{CC666D5D-2B89-4E94-9C0A-FAF133367FB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367" y="1916838"/>
            <a:ext cx="1440000" cy="720000"/>
          </a:xfrm>
          <a:prstGeom prst="rect">
            <a:avLst/>
          </a:prstGeom>
        </p:spPr>
      </p:pic>
      <p:pic>
        <p:nvPicPr>
          <p:cNvPr id="376340422" name="Рисунок 376340421">
            <a:extLst>
              <a:ext uri="{FF2B5EF4-FFF2-40B4-BE49-F238E27FC236}">
                <a16:creationId xmlns:a16="http://schemas.microsoft.com/office/drawing/2014/main" id="{B5224617-04B4-4E5C-9E2E-9DD6E84B050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903" y="3825630"/>
            <a:ext cx="1440000" cy="720000"/>
          </a:xfrm>
          <a:prstGeom prst="rect">
            <a:avLst/>
          </a:prstGeom>
        </p:spPr>
      </p:pic>
      <p:pic>
        <p:nvPicPr>
          <p:cNvPr id="376340424" name="Рисунок 376340423">
            <a:extLst>
              <a:ext uri="{FF2B5EF4-FFF2-40B4-BE49-F238E27FC236}">
                <a16:creationId xmlns:a16="http://schemas.microsoft.com/office/drawing/2014/main" id="{EA604EE7-3552-435E-BD0F-1CD430B6360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431" y="1916838"/>
            <a:ext cx="1440000" cy="720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7B588D-41D4-4C7E-B6F4-316A294B6E1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5899" y="1916838"/>
            <a:ext cx="1440000" cy="720000"/>
          </a:xfrm>
          <a:prstGeom prst="rect">
            <a:avLst/>
          </a:prstGeom>
        </p:spPr>
      </p:pic>
      <p:sp>
        <p:nvSpPr>
          <p:cNvPr id="22" name="Rectangle 5">
            <a:extLst>
              <a:ext uri="{FF2B5EF4-FFF2-40B4-BE49-F238E27FC236}">
                <a16:creationId xmlns:a16="http://schemas.microsoft.com/office/drawing/2014/main" id="{7E5CE3D6-6D38-4C25-8CD5-03D637C02264}"/>
              </a:ext>
            </a:extLst>
          </p:cNvPr>
          <p:cNvSpPr/>
          <p:nvPr/>
        </p:nvSpPr>
        <p:spPr bwMode="auto">
          <a:xfrm>
            <a:off x="338598" y="4936121"/>
            <a:ext cx="11140229" cy="52322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en-US" sz="1400" dirty="0">
                <a:latin typeface="Calibri" panose="020F0502020204030204" pitchFamily="34" charset="0"/>
                <a:ea typeface="Calibri"/>
                <a:cs typeface="Calibri"/>
              </a:rPr>
              <a:t>Comindware Platform </a:t>
            </a: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позволяет использовать как готовые коннекторы, так и</a:t>
            </a:r>
            <a:r>
              <a:rPr lang="en-US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 </a:t>
            </a: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самогенерирующийся </a:t>
            </a:r>
            <a:r>
              <a:rPr lang="en-US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API </a:t>
            </a: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для настройки интеграции с любой внешней ИТ-системой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B17AE-8EB8-0E3E-361E-6AC6262C6F7F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V="1">
            <a:off x="6096000" y="4911304"/>
            <a:ext cx="2102186" cy="3539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8130CA-7A3C-9D3D-1090-CEBDFC73A7A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38453" y="2871234"/>
            <a:ext cx="144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17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D75C2-6DB2-035D-341E-8C596BC25E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29289" y="1689951"/>
            <a:ext cx="3133422" cy="34780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334962" y="2890391"/>
            <a:ext cx="11522076" cy="1077218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>
            <a:defPPr>
              <a:defRPr lang="en-US"/>
            </a:defPPr>
            <a:lvl1pPr marL="14288">
              <a:defRPr sz="4000">
                <a:latin typeface="Trebuchet MS"/>
                <a:ea typeface="PT Sans"/>
                <a:cs typeface="Calibri"/>
              </a:defRPr>
            </a:lvl1pPr>
          </a:lstStyle>
          <a:p>
            <a:pPr algn="ctr">
              <a:defRPr/>
            </a:pPr>
            <a:r>
              <a:rPr lang="ru-RU" sz="3200" dirty="0">
                <a:solidFill>
                  <a:srgbClr val="0F1115"/>
                </a:solidFill>
                <a:effectLst/>
                <a:latin typeface="Calibri" panose="020F0502020204030204" pitchFamily="34" charset="0"/>
              </a:rPr>
              <a:t>Высокотехнологичный</a:t>
            </a:r>
            <a:br>
              <a:rPr lang="en-US" sz="3200" dirty="0">
                <a:solidFill>
                  <a:srgbClr val="0F1115"/>
                </a:solidFill>
                <a:effectLst/>
                <a:latin typeface="Calibri" panose="020F0502020204030204" pitchFamily="34" charset="0"/>
              </a:rPr>
            </a:br>
            <a:r>
              <a:rPr lang="ru-RU" sz="3200" dirty="0">
                <a:solidFill>
                  <a:srgbClr val="0F1115"/>
                </a:solidFill>
                <a:effectLst/>
                <a:latin typeface="Calibri" panose="020F0502020204030204" pitchFamily="34" charset="0"/>
              </a:rPr>
              <a:t>современный фундамент</a:t>
            </a:r>
            <a:endParaRPr sz="3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212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 bwMode="auto">
          <a:xfrm>
            <a:off x="334800" y="709200"/>
            <a:ext cx="6804873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Надёжный</a:t>
            </a:r>
            <a:r>
              <a:rPr lang="en-US" dirty="0"/>
              <a:t> </a:t>
            </a:r>
            <a:r>
              <a:rPr lang="ru-RU" dirty="0"/>
              <a:t>фундамент</a:t>
            </a:r>
            <a:endParaRPr dirty="0"/>
          </a:p>
        </p:txBody>
      </p:sp>
      <p:sp>
        <p:nvSpPr>
          <p:cNvPr id="12" name="Rectangle 5"/>
          <p:cNvSpPr/>
          <p:nvPr/>
        </p:nvSpPr>
        <p:spPr bwMode="auto">
          <a:xfrm>
            <a:off x="334800" y="1914574"/>
            <a:ext cx="3421225" cy="3077766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Обеспечение непрерывной работы критически важных сервисов:</a:t>
            </a:r>
            <a:endParaRPr lang="en-US" sz="1400" u="none" strike="noStrike" cap="none" spc="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pPr>
              <a:spcAft>
                <a:spcPts val="600"/>
              </a:spcAft>
              <a:defRPr/>
            </a:pPr>
            <a:endParaRPr lang="ru-RU" sz="1400" dirty="0">
              <a:latin typeface="Calibri" panose="020F0502020204030204" pitchFamily="34" charset="0"/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Микросервисная архитектура</a:t>
            </a: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Виртуализация</a:t>
            </a: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Кластеризация </a:t>
            </a: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Анализ и мониторинг</a:t>
            </a: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 err="1">
                <a:latin typeface="Calibri" panose="020F0502020204030204" pitchFamily="34" charset="0"/>
                <a:cs typeface="Calibri"/>
              </a:rPr>
              <a:t>Параллелизация</a:t>
            </a:r>
            <a:r>
              <a:rPr lang="ru-RU" sz="1400" dirty="0">
                <a:latin typeface="Calibri" panose="020F0502020204030204" pitchFamily="34" charset="0"/>
                <a:cs typeface="Calibri"/>
              </a:rPr>
              <a:t> разработки</a:t>
            </a: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Управление версиями и гранулярный перенос настроек и приложений</a:t>
            </a:r>
          </a:p>
          <a:p>
            <a:pPr marL="285750" indent="-285750">
              <a:spcAft>
                <a:spcPts val="6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Балансировка нагрузки</a:t>
            </a:r>
          </a:p>
        </p:txBody>
      </p:sp>
      <p:pic>
        <p:nvPicPr>
          <p:cNvPr id="2" name="Рисунок 1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40238" y="1265585"/>
            <a:ext cx="7416800" cy="524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 bwMode="auto">
          <a:xfrm>
            <a:off x="4453735" y="1637050"/>
            <a:ext cx="366054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4288"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Архитектура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579321" name="TextBox 8"/>
          <p:cNvSpPr txBox="1"/>
          <p:nvPr/>
        </p:nvSpPr>
        <p:spPr bwMode="auto">
          <a:xfrm>
            <a:off x="334961" y="709200"/>
            <a:ext cx="7416801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Вариативность</a:t>
            </a:r>
            <a:r>
              <a:rPr lang="en-US" dirty="0"/>
              <a:t> </a:t>
            </a:r>
            <a:r>
              <a:rPr lang="ru-RU" dirty="0"/>
              <a:t>ландшафта</a:t>
            </a:r>
            <a:endParaRPr dirty="0"/>
          </a:p>
        </p:txBody>
      </p:sp>
      <p:sp>
        <p:nvSpPr>
          <p:cNvPr id="2" name="Rectangle 5"/>
          <p:cNvSpPr/>
          <p:nvPr/>
        </p:nvSpPr>
        <p:spPr bwMode="auto">
          <a:xfrm>
            <a:off x="334963" y="1911790"/>
            <a:ext cx="3390422" cy="184665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Варианты развёртывания: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собственные сервера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внешний ЦОД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облачная инфраструктура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/>
              <a:buChar char="ü"/>
              <a:defRPr/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гибридное развёртывание</a:t>
            </a:r>
            <a:endParaRPr sz="14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4" name="TextBox 969887881"/>
          <p:cNvSpPr txBox="1"/>
          <p:nvPr/>
        </p:nvSpPr>
        <p:spPr bwMode="auto">
          <a:xfrm>
            <a:off x="4440236" y="2835120"/>
            <a:ext cx="2306764" cy="311432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  <a:t>Кластеризация</a:t>
            </a:r>
            <a:endParaRPr sz="14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5" name="TextBox 1234735465"/>
          <p:cNvSpPr txBox="1"/>
          <p:nvPr/>
        </p:nvSpPr>
        <p:spPr bwMode="auto">
          <a:xfrm>
            <a:off x="8466616" y="2835120"/>
            <a:ext cx="4463409" cy="311432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  <a:t>Микросервисная архитектура</a:t>
            </a:r>
            <a:endParaRPr sz="1400" dirty="0"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6" name="Рисунок 1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484935" y="3246378"/>
            <a:ext cx="3372103" cy="3278247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385685" y="1920240"/>
            <a:ext cx="977608" cy="488804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490566" y="1920240"/>
            <a:ext cx="976050" cy="488025"/>
          </a:xfrm>
          <a:prstGeom prst="rect">
            <a:avLst/>
          </a:prstGeom>
        </p:spPr>
      </p:pic>
      <p:pic>
        <p:nvPicPr>
          <p:cNvPr id="9" name="Picture 7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593889" y="1920240"/>
            <a:ext cx="976049" cy="488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9697211" y="1920240"/>
            <a:ext cx="976050" cy="488025"/>
          </a:xfrm>
          <a:prstGeom prst="rect">
            <a:avLst/>
          </a:prstGeom>
        </p:spPr>
      </p:pic>
      <p:sp>
        <p:nvSpPr>
          <p:cNvPr id="11" name="TextBox 969887881"/>
          <p:cNvSpPr txBox="1"/>
          <p:nvPr/>
        </p:nvSpPr>
        <p:spPr bwMode="auto">
          <a:xfrm>
            <a:off x="4440236" y="1920240"/>
            <a:ext cx="2306764" cy="311432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Поддерживаемые ОС</a:t>
            </a:r>
            <a:endParaRPr sz="1400" dirty="0"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2" name="Рисунок 16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4448510" y="3246377"/>
            <a:ext cx="3526468" cy="32782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 bwMode="auto">
          <a:xfrm>
            <a:off x="334962" y="709200"/>
            <a:ext cx="11279850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pPr algn="ctr"/>
            <a:r>
              <a:rPr lang="ru-RU" dirty="0"/>
              <a:t>Процесс безопасной разработки ПО</a:t>
            </a:r>
            <a:endParaRPr lang="en-US" dirty="0"/>
          </a:p>
        </p:txBody>
      </p:sp>
      <p:pic>
        <p:nvPicPr>
          <p:cNvPr id="1120238737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4964" y="1929319"/>
            <a:ext cx="11491812" cy="2999363"/>
          </a:xfrm>
          <a:prstGeom prst="rect">
            <a:avLst/>
          </a:prstGeom>
        </p:spPr>
      </p:pic>
      <p:sp>
        <p:nvSpPr>
          <p:cNvPr id="22" name="TextBox 2">
            <a:extLst>
              <a:ext uri="{FF2B5EF4-FFF2-40B4-BE49-F238E27FC236}">
                <a16:creationId xmlns:a16="http://schemas.microsoft.com/office/drawing/2014/main" id="{C1F1F62A-E0E7-A9F4-A68F-21A57763733C}"/>
              </a:ext>
            </a:extLst>
          </p:cNvPr>
          <p:cNvSpPr txBox="1"/>
          <p:nvPr/>
        </p:nvSpPr>
        <p:spPr bwMode="auto">
          <a:xfrm>
            <a:off x="6044205" y="1903388"/>
            <a:ext cx="5977225" cy="73866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Процесс разработки выстроен на требованиях ГОСТ Р 56939–2024, нормативных документах ФСТЭК России и принципах Дисциплинированная гибкая разработка (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Disciplined Agile Delivery PMI).</a:t>
            </a:r>
            <a:endParaRPr lang="ru-RU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Oval 4"/>
          <p:cNvSpPr/>
          <p:nvPr/>
        </p:nvSpPr>
        <p:spPr bwMode="auto">
          <a:xfrm>
            <a:off x="8530300" y="4931466"/>
            <a:ext cx="3295935" cy="1326323"/>
          </a:xfrm>
          <a:prstGeom prst="ellipse">
            <a:avLst/>
          </a:prstGeom>
          <a:solidFill>
            <a:schemeClr val="bg1">
              <a:alpha val="536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5"/>
          <p:cNvPicPr>
            <a:picLocks noChangeAspect="1"/>
          </p:cNvPicPr>
          <p:nvPr/>
        </p:nvPicPr>
        <p:blipFill>
          <a:blip r:embed="rId3">
            <a:alphaModFix amt="20000"/>
          </a:blip>
          <a:stretch/>
        </p:blipFill>
        <p:spPr bwMode="auto">
          <a:xfrm flipH="1" flipV="1">
            <a:off x="8369900" y="5059833"/>
            <a:ext cx="3616734" cy="1464792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 bwMode="auto">
          <a:xfrm>
            <a:off x="334962" y="709200"/>
            <a:ext cx="6378989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Производительность</a:t>
            </a:r>
            <a:endParaRPr dirty="0"/>
          </a:p>
        </p:txBody>
      </p:sp>
      <p:pic>
        <p:nvPicPr>
          <p:cNvPr id="3" name="Picture 17"/>
          <p:cNvPicPr>
            <a:picLocks noChangeAspect="1"/>
          </p:cNvPicPr>
          <p:nvPr/>
        </p:nvPicPr>
        <p:blipFill>
          <a:blip r:embed="rId4"/>
          <a:srcRect t="12283" r="9612"/>
          <a:stretch>
            <a:fillRect/>
          </a:stretch>
        </p:blipFill>
        <p:spPr bwMode="auto">
          <a:xfrm>
            <a:off x="334963" y="1916113"/>
            <a:ext cx="7428141" cy="36042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5"/>
          <p:cNvSpPr/>
          <p:nvPr/>
        </p:nvSpPr>
        <p:spPr bwMode="auto">
          <a:xfrm>
            <a:off x="8494628" y="1916113"/>
            <a:ext cx="3362410" cy="243875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srgbClr val="000000"/>
                </a:solidFill>
                <a:latin typeface="Calibri" panose="020F0502020204030204" pitchFamily="34" charset="0"/>
                <a:cs typeface="Calibri"/>
              </a:rPr>
              <a:t>Высокая производительность подтверждена стресс-тестом с максимальной интенсивностью.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ru-RU" sz="1400" dirty="0">
              <a:solidFill>
                <a:srgbClr val="000000"/>
              </a:solidFill>
              <a:latin typeface="Calibri" panose="020F0502020204030204" pitchFamily="34" charset="0"/>
              <a:cs typeface="Calibri"/>
            </a:endParaRPr>
          </a:p>
          <a:p>
            <a:pPr>
              <a:defRPr/>
            </a:pPr>
            <a:r>
              <a:rPr lang="ru-RU" sz="1400" u="none" strike="noStrike" cap="none" spc="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/>
              </a:rPr>
              <a:t>На момент теста система работала на оборудовании с минимально допустимыми мощностями.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  <a:cs typeface="Calibri"/>
            </a:endParaRPr>
          </a:p>
          <a:p>
            <a:pPr>
              <a:defRPr/>
            </a:pPr>
            <a:endParaRPr lang="ru-RU" sz="1400" dirty="0">
              <a:solidFill>
                <a:srgbClr val="000000"/>
              </a:solidFill>
              <a:latin typeface="Calibri" panose="020F0502020204030204" pitchFamily="34" charset="0"/>
              <a:cs typeface="Calibri"/>
            </a:endParaRPr>
          </a:p>
          <a:p>
            <a:pPr>
              <a:defRPr/>
            </a:pPr>
            <a:r>
              <a:rPr lang="ru-RU" sz="1400" dirty="0">
                <a:solidFill>
                  <a:srgbClr val="000000"/>
                </a:solidFill>
                <a:latin typeface="Calibri" panose="020F0502020204030204" pitchFamily="34" charset="0"/>
                <a:cs typeface="Calibri"/>
              </a:rPr>
              <a:t>Стресс-тестирование: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/>
              </a:rPr>
              <a:t>~</a:t>
            </a:r>
            <a:r>
              <a:rPr lang="ru-RU" sz="14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/>
              </a:rPr>
              <a:t>50 000 договоров в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/>
              </a:rPr>
              <a:t>CRM</a:t>
            </a:r>
            <a:r>
              <a:rPr lang="ru-RU" sz="14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/>
              </a:rPr>
              <a:t> было создано </a:t>
            </a:r>
            <a:br>
              <a:rPr lang="ru-RU" sz="14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/>
              </a:rPr>
            </a:br>
            <a:r>
              <a:rPr lang="ru-RU" sz="14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/>
              </a:rPr>
              <a:t>2 500 пользователями за 2 минуты.</a:t>
            </a:r>
            <a:endParaRPr sz="14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5" name="Rectangle 25"/>
          <p:cNvSpPr/>
          <p:nvPr/>
        </p:nvSpPr>
        <p:spPr bwMode="auto">
          <a:xfrm>
            <a:off x="6200874" y="6102062"/>
            <a:ext cx="13078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/>
              </a:rPr>
              <a:t>График запросов к серверу в секунду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418594" y="5838199"/>
            <a:ext cx="1572534" cy="786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21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27361" y="5838199"/>
            <a:ext cx="1572534" cy="786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23"/>
          <p:cNvSpPr/>
          <p:nvPr/>
        </p:nvSpPr>
        <p:spPr bwMode="auto">
          <a:xfrm>
            <a:off x="236680" y="1433462"/>
            <a:ext cx="2669249" cy="244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/>
              </a:rPr>
              <a:t>График времени отклика 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0" name="Rectangle 24"/>
          <p:cNvSpPr/>
          <p:nvPr/>
        </p:nvSpPr>
        <p:spPr bwMode="auto">
          <a:xfrm>
            <a:off x="2060295" y="6102062"/>
            <a:ext cx="1236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/>
              </a:rPr>
              <a:t>График активности пользователей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8516280" y="4502527"/>
            <a:ext cx="2074035" cy="274947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100" u="none" strike="noStrike" cap="none" spc="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/>
              </a:rPr>
              <a:t>*90-</a:t>
            </a:r>
            <a:r>
              <a:rPr lang="ru-RU" sz="1100" u="none" strike="noStrike" cap="none" spc="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/>
              </a:rPr>
              <a:t>й процентиль</a:t>
            </a:r>
            <a:endParaRPr sz="11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486870341" name="TextBox 486870340"/>
          <p:cNvSpPr txBox="1"/>
          <p:nvPr/>
        </p:nvSpPr>
        <p:spPr bwMode="auto">
          <a:xfrm>
            <a:off x="8869680" y="5311364"/>
            <a:ext cx="2864354" cy="84350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1600" u="none" strike="noStrike" cap="none" spc="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/>
              </a:rPr>
              <a:t>Результат:</a:t>
            </a:r>
            <a:endParaRPr sz="1600" dirty="0">
              <a:latin typeface="Calibri" panose="020F0502020204030204" pitchFamily="34" charset="0"/>
              <a:cs typeface="Calibri"/>
            </a:endParaRPr>
          </a:p>
          <a:p>
            <a:pPr>
              <a:defRPr/>
            </a:pPr>
            <a:r>
              <a:rPr lang="ru-RU" sz="1600" u="none" strike="noStrike" cap="none" spc="0" dirty="0">
                <a:solidFill>
                  <a:srgbClr val="000000"/>
                </a:solidFill>
                <a:latin typeface="Calibri" panose="020F0502020204030204" pitchFamily="34" charset="0"/>
                <a:ea typeface="PT Sans"/>
                <a:cs typeface="Calibri"/>
              </a:rPr>
              <a:t>Время создания 1 договора не превысило 2 секунд.</a:t>
            </a:r>
            <a:r>
              <a:rPr lang="en-US" sz="1600" u="none" strike="noStrike" cap="none" spc="0" dirty="0">
                <a:solidFill>
                  <a:srgbClr val="000000"/>
                </a:solidFill>
                <a:latin typeface="Calibri" panose="020F0502020204030204" pitchFamily="34" charset="0"/>
                <a:ea typeface="PT Sans"/>
                <a:cs typeface="Calibri"/>
              </a:rPr>
              <a:t>*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7">
            <a:extLst>
              <a:ext uri="{FF2B5EF4-FFF2-40B4-BE49-F238E27FC236}">
                <a16:creationId xmlns:a16="http://schemas.microsoft.com/office/drawing/2014/main" id="{4DFD3901-17DD-31EC-2D85-B7D060F6FB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2" r="9612" b="95670"/>
          <a:stretch>
            <a:fillRect/>
          </a:stretch>
        </p:blipFill>
        <p:spPr bwMode="auto">
          <a:xfrm>
            <a:off x="334963" y="1734416"/>
            <a:ext cx="7428141" cy="18169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D323B7-E2C9-8F15-133D-06F4C88808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29289" y="1689951"/>
            <a:ext cx="3133422" cy="34780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334962" y="2890391"/>
            <a:ext cx="11522076" cy="1077218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lstStyle>
            <a:defPPr>
              <a:defRPr lang="en-US"/>
            </a:defPPr>
            <a:lvl1pPr marL="14288">
              <a:defRPr sz="4000">
                <a:latin typeface="Trebuchet MS"/>
                <a:ea typeface="PT Sans"/>
                <a:cs typeface="Calibri"/>
              </a:defRPr>
            </a:lvl1pPr>
          </a:lstStyle>
          <a:p>
            <a:pPr algn="ctr">
              <a:defRPr/>
            </a:pPr>
            <a:r>
              <a:rPr lang="ru-RU" sz="3200" dirty="0">
                <a:solidFill>
                  <a:srgbClr val="0F1115"/>
                </a:solidFill>
                <a:effectLst/>
                <a:latin typeface="Calibri" panose="020F0502020204030204" pitchFamily="34" charset="0"/>
              </a:rPr>
              <a:t>15-летняя экспертиза</a:t>
            </a:r>
            <a:br>
              <a:rPr lang="en-US" sz="3200" dirty="0">
                <a:solidFill>
                  <a:srgbClr val="0F1115"/>
                </a:solidFill>
                <a:effectLst/>
                <a:latin typeface="Calibri" panose="020F0502020204030204" pitchFamily="34" charset="0"/>
              </a:rPr>
            </a:br>
            <a:r>
              <a:rPr lang="ru-RU" sz="3200" dirty="0">
                <a:solidFill>
                  <a:srgbClr val="0F1115"/>
                </a:solidFill>
                <a:effectLst/>
                <a:latin typeface="Calibri" panose="020F0502020204030204" pitchFamily="34" charset="0"/>
              </a:rPr>
              <a:t>для решения ваших задач</a:t>
            </a:r>
            <a:endParaRPr sz="3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475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35BF33E-20D8-E102-E791-50D731C47D5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6F1BD9-A9BC-5523-8666-41E54892E096}"/>
              </a:ext>
            </a:extLst>
          </p:cNvPr>
          <p:cNvSpPr txBox="1"/>
          <p:nvPr/>
        </p:nvSpPr>
        <p:spPr>
          <a:xfrm>
            <a:off x="334963" y="699805"/>
            <a:ext cx="6296068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Экспертиза команды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2A131D-A35D-4698-811C-752FE5C1C0B9}"/>
              </a:ext>
            </a:extLst>
          </p:cNvPr>
          <p:cNvSpPr txBox="1"/>
          <p:nvPr/>
        </p:nvSpPr>
        <p:spPr>
          <a:xfrm>
            <a:off x="334962" y="1916113"/>
            <a:ext cx="11522075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 dirty="0"/>
              <a:t>Comindware — это не просто технология. Это ещё и команда экспертов, которая глубоко понимает, как устроены бизнес-процессы в разных отраслях.</a:t>
            </a:r>
          </a:p>
        </p:txBody>
      </p:sp>
      <p:pic>
        <p:nvPicPr>
          <p:cNvPr id="1030" name="Picture 6" descr="Анатолий Белайчук">
            <a:extLst>
              <a:ext uri="{FF2B5EF4-FFF2-40B4-BE49-F238E27FC236}">
                <a16:creationId xmlns:a16="http://schemas.microsoft.com/office/drawing/2014/main" id="{73FD37A6-57EE-4EBA-A196-6ACD897F6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488" y="2636838"/>
            <a:ext cx="1759864" cy="175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151A31-4D63-4B54-ABEC-F25B23BEAD3A}"/>
              </a:ext>
            </a:extLst>
          </p:cNvPr>
          <p:cNvSpPr txBox="1"/>
          <p:nvPr/>
        </p:nvSpPr>
        <p:spPr>
          <a:xfrm>
            <a:off x="8472488" y="4581525"/>
            <a:ext cx="3384550" cy="181588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lang="ru-RU" sz="1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Анатолий </a:t>
            </a:r>
            <a:r>
              <a:rPr lang="ru-RU" sz="14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Белайчук</a:t>
            </a:r>
            <a:endParaRPr lang="ru-RU" sz="1400" b="1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ru-RU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BPM-евангелист</a:t>
            </a:r>
          </a:p>
          <a:p>
            <a:pPr algn="l"/>
            <a:endParaRPr lang="ru-RU" sz="105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ru-RU" sz="105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</a:t>
            </a:r>
            <a:r>
              <a:rPr lang="ru-RU" sz="105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еждународно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признанный эксперт в процессном управлении, президент Ассоциации ABPMP Russian </a:t>
            </a:r>
            <a:r>
              <a:rPr lang="ru-RU" sz="105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Chapter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Научный редактор ключевых российских изданий по BPM, сертифицированный профессионал.</a:t>
            </a:r>
          </a:p>
          <a:p>
            <a:pPr algn="l"/>
            <a:r>
              <a:rPr lang="ru-RU" sz="105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 качестве BPM-евангелиста Comindware отвечает за методологию процессного управления и цифровой трансформации.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8789F9-361E-4FD5-A6CC-8D543BD61AE2}"/>
              </a:ext>
            </a:extLst>
          </p:cNvPr>
          <p:cNvSpPr txBox="1"/>
          <p:nvPr/>
        </p:nvSpPr>
        <p:spPr bwMode="auto">
          <a:xfrm>
            <a:off x="334963" y="4581525"/>
            <a:ext cx="3421062" cy="1869743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lang="ru-RU" sz="1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Валерий Самарский</a:t>
            </a:r>
          </a:p>
          <a:p>
            <a:pPr algn="l"/>
            <a:r>
              <a:rPr lang="ru-RU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Директор департамента управления проектами</a:t>
            </a:r>
          </a:p>
          <a:p>
            <a:pPr algn="l"/>
            <a:br>
              <a:rPr lang="ru-RU" sz="1050" b="0" i="0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050" b="0" i="0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Эксперт по внедрению цифровых решений для бизнеса и госструктур.  Его проекты — победители конкурсов «Проект года» (Global CIO) и «BPM-проект года». Имеет сертификаты по проектному управлению и степень MBA. В Comindware более 8 лет развивает лучшие практики в области настраиваемых ИТ-решений.</a:t>
            </a:r>
            <a:endParaRPr lang="ru-RU" sz="105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Валерий Самарский">
            <a:extLst>
              <a:ext uri="{FF2B5EF4-FFF2-40B4-BE49-F238E27FC236}">
                <a16:creationId xmlns:a16="http://schemas.microsoft.com/office/drawing/2014/main" id="{E5A2ADF6-0906-441F-BF27-160585C8D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" y="2636838"/>
            <a:ext cx="1759865" cy="175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Игорь Простоквашин">
            <a:extLst>
              <a:ext uri="{FF2B5EF4-FFF2-40B4-BE49-F238E27FC236}">
                <a16:creationId xmlns:a16="http://schemas.microsoft.com/office/drawing/2014/main" id="{91C1A522-A31E-4335-8082-AE497D775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580" y="2636839"/>
            <a:ext cx="1759864" cy="175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6C33C2-3561-4903-8481-F2293496A7EB}"/>
              </a:ext>
            </a:extLst>
          </p:cNvPr>
          <p:cNvSpPr txBox="1"/>
          <p:nvPr/>
        </p:nvSpPr>
        <p:spPr>
          <a:xfrm>
            <a:off x="4438578" y="4581525"/>
            <a:ext cx="3479295" cy="1869743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lang="ru-RU" sz="1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Игорь </a:t>
            </a:r>
            <a:r>
              <a:rPr lang="ru-RU" sz="14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Простоквашин</a:t>
            </a:r>
            <a:endParaRPr lang="ru-RU" sz="1400" b="1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ru-RU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Ведущий бизнес-аналитик, эксперт по реализации проектов</a:t>
            </a:r>
          </a:p>
          <a:p>
            <a:pPr algn="l"/>
            <a:br>
              <a:rPr lang="ru-RU" sz="1050" b="0" i="0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1050" b="0" i="0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Более 10 лет занимается реализацией решений и возглавляет клиентские проекты самого высокого уровня. Эксперт-практик платформы, находящий оптимальные пути достижения целей. Регулярный спикер на конференциях и ведущий мастер-классов по автоматизации для разной аудитории.</a:t>
            </a:r>
          </a:p>
        </p:txBody>
      </p:sp>
    </p:spTree>
    <p:extLst>
      <p:ext uri="{BB962C8B-B14F-4D97-AF65-F5344CB8AC3E}">
        <p14:creationId xmlns:p14="http://schemas.microsoft.com/office/powerpoint/2010/main" val="4110010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 bwMode="auto">
          <a:xfrm>
            <a:off x="334962" y="709200"/>
            <a:ext cx="11279850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Гибкая этапная разработка</a:t>
            </a:r>
            <a:endParaRPr lang="en-US" dirty="0"/>
          </a:p>
        </p:txBody>
      </p:sp>
      <p:pic>
        <p:nvPicPr>
          <p:cNvPr id="1120238737" name="Picture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4962" y="1661499"/>
            <a:ext cx="11491816" cy="4395276"/>
          </a:xfrm>
          <a:prstGeom prst="rect">
            <a:avLst/>
          </a:prstGeom>
        </p:spPr>
      </p:pic>
      <p:sp>
        <p:nvSpPr>
          <p:cNvPr id="346143901" name="Rectangle 23"/>
          <p:cNvSpPr/>
          <p:nvPr/>
        </p:nvSpPr>
        <p:spPr bwMode="auto">
          <a:xfrm>
            <a:off x="6246468" y="5503090"/>
            <a:ext cx="2248676" cy="433553"/>
          </a:xfrm>
          <a:prstGeom prst="rect">
            <a:avLst/>
          </a:prstGeom>
          <a:solidFill>
            <a:schemeClr val="bg1"/>
          </a:solidFill>
        </p:spPr>
        <p:txBody>
          <a:bodyPr wrap="square" lIns="108000" tIns="108000" rIns="108000" bIns="108000" anchor="b" anchorCtr="0">
            <a:spAutoFit/>
          </a:bodyPr>
          <a:lstStyle/>
          <a:p>
            <a:pPr algn="ctr">
              <a:defRPr/>
            </a:pPr>
            <a: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  <a:t>Устранение замечаний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000203337" name="Rectangle 23"/>
          <p:cNvSpPr/>
          <p:nvPr/>
        </p:nvSpPr>
        <p:spPr bwMode="auto">
          <a:xfrm>
            <a:off x="1097025" y="5744502"/>
            <a:ext cx="3804021" cy="643079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08000" rIns="180000" bIns="108000" anchor="b" anchorCtr="0">
            <a:spAutoFit/>
          </a:bodyPr>
          <a:lstStyle/>
          <a:p>
            <a:pPr algn="ctr">
              <a:defRPr/>
            </a:pPr>
            <a: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  <a:t>Потребность в совершенствовании замыкает цикл Деминга (</a:t>
            </a:r>
            <a:r>
              <a:rPr lang="en-US" sz="1400" dirty="0">
                <a:latin typeface="Calibri" panose="020F0502020204030204" pitchFamily="34" charset="0"/>
                <a:ea typeface="Calibri"/>
                <a:cs typeface="Calibri"/>
              </a:rPr>
              <a:t>PDCA)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893269049" name="Rectangle 23"/>
          <p:cNvSpPr/>
          <p:nvPr/>
        </p:nvSpPr>
        <p:spPr bwMode="auto">
          <a:xfrm>
            <a:off x="1317573" y="4635859"/>
            <a:ext cx="662040" cy="353943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Анализ</a:t>
            </a:r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требований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475507709" name="Rectangle 23"/>
          <p:cNvSpPr/>
          <p:nvPr/>
        </p:nvSpPr>
        <p:spPr bwMode="auto">
          <a:xfrm>
            <a:off x="2725044" y="4635858"/>
            <a:ext cx="615553" cy="353943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Разработка</a:t>
            </a:r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концепции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453014534" name="Rectangle 23"/>
          <p:cNvSpPr/>
          <p:nvPr/>
        </p:nvSpPr>
        <p:spPr bwMode="auto">
          <a:xfrm>
            <a:off x="4061575" y="4635855"/>
            <a:ext cx="711733" cy="353943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Разработка</a:t>
            </a:r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архитектуры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597830056" name="Rectangle 23"/>
          <p:cNvSpPr/>
          <p:nvPr/>
        </p:nvSpPr>
        <p:spPr bwMode="auto">
          <a:xfrm>
            <a:off x="8577273" y="4712798"/>
            <a:ext cx="235642" cy="200055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ОПЭ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2064234681" name="Rectangle 23"/>
          <p:cNvSpPr/>
          <p:nvPr/>
        </p:nvSpPr>
        <p:spPr bwMode="auto">
          <a:xfrm>
            <a:off x="9756857" y="4635855"/>
            <a:ext cx="870430" cy="353943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Эксплуатация и</a:t>
            </a:r>
            <a:b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</a:b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поддержка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461230543" name="Rectangle 23"/>
          <p:cNvSpPr/>
          <p:nvPr/>
        </p:nvSpPr>
        <p:spPr bwMode="auto">
          <a:xfrm>
            <a:off x="5879812" y="4720356"/>
            <a:ext cx="569066" cy="200055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Настройка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241625507" name="Rectangle 23"/>
          <p:cNvSpPr/>
          <p:nvPr/>
        </p:nvSpPr>
        <p:spPr bwMode="auto">
          <a:xfrm rot="19217141">
            <a:off x="5131347" y="2283633"/>
            <a:ext cx="904094" cy="353943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Тестирование</a:t>
            </a:r>
            <a:endParaRPr dirty="0">
              <a:latin typeface="Calibri" panose="020F0502020204030204" pitchFamily="34" charset="0"/>
              <a:cs typeface="Calibri"/>
            </a:endParaRPr>
          </a:p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и демонстрация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701286825" name="Rectangle 23"/>
          <p:cNvSpPr/>
          <p:nvPr/>
        </p:nvSpPr>
        <p:spPr bwMode="auto">
          <a:xfrm rot="3532761">
            <a:off x="4942416" y="3713993"/>
            <a:ext cx="673261" cy="353943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Готовое</a:t>
            </a:r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pPr algn="ctr">
              <a:defRPr/>
            </a:pPr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ИТ-решение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457809163" name="Rectangle 23"/>
          <p:cNvSpPr/>
          <p:nvPr/>
        </p:nvSpPr>
        <p:spPr bwMode="auto">
          <a:xfrm>
            <a:off x="7784138" y="3485110"/>
            <a:ext cx="201978" cy="200055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PoC</a:t>
            </a:r>
            <a:endParaRPr lang="ru-RU" sz="10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927318327" name="Rectangle 23"/>
          <p:cNvSpPr/>
          <p:nvPr/>
        </p:nvSpPr>
        <p:spPr bwMode="auto">
          <a:xfrm>
            <a:off x="7742459" y="2973881"/>
            <a:ext cx="246862" cy="200055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MVP</a:t>
            </a:r>
            <a:endParaRPr lang="ru-RU" sz="10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2006885004" name="Rectangle 23"/>
          <p:cNvSpPr/>
          <p:nvPr/>
        </p:nvSpPr>
        <p:spPr bwMode="auto">
          <a:xfrm>
            <a:off x="7502808" y="2473559"/>
            <a:ext cx="283732" cy="200055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MMP</a:t>
            </a:r>
            <a:endParaRPr lang="ru-RU" sz="10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1343996269" name="Rectangle 23"/>
          <p:cNvSpPr/>
          <p:nvPr/>
        </p:nvSpPr>
        <p:spPr bwMode="auto">
          <a:xfrm>
            <a:off x="7045649" y="2143794"/>
            <a:ext cx="229229" cy="200055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MLP</a:t>
            </a:r>
            <a:endParaRPr lang="ru-RU" sz="10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1202155756" name="Rectangle 23"/>
          <p:cNvSpPr/>
          <p:nvPr/>
        </p:nvSpPr>
        <p:spPr bwMode="auto">
          <a:xfrm>
            <a:off x="6530692" y="1943741"/>
            <a:ext cx="256480" cy="200055"/>
          </a:xfrm>
          <a:prstGeom prst="rect">
            <a:avLst/>
          </a:prstGeom>
          <a:noFill/>
        </p:spPr>
        <p:txBody>
          <a:bodyPr wrap="none" lIns="0" tIns="0" rIns="0" anchor="b" anchorCtr="0">
            <a:spAutoFit/>
          </a:bodyPr>
          <a:lstStyle/>
          <a:p>
            <a:pPr algn="ctr">
              <a:defRPr/>
            </a:pPr>
            <a:r>
              <a:rPr lang="en-GB" sz="10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/>
              </a:rPr>
              <a:t>MDP</a:t>
            </a:r>
            <a:endParaRPr lang="ru-RU" sz="10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407662968" name="TextBox 407662967"/>
          <p:cNvSpPr txBox="1"/>
          <p:nvPr/>
        </p:nvSpPr>
        <p:spPr bwMode="auto">
          <a:xfrm>
            <a:off x="365222" y="1936800"/>
            <a:ext cx="4417175" cy="982128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  <a:t>Соблюдаются логика и этапность каскадного подхода,</a:t>
            </a:r>
            <a:r>
              <a:rPr lang="en-US" sz="1400" dirty="0">
                <a:latin typeface="Calibri" panose="020F0502020204030204" pitchFamily="34" charset="0"/>
                <a:ea typeface="Calibri"/>
                <a:cs typeface="Calibri"/>
              </a:rPr>
              <a:t> </a:t>
            </a:r>
            <a: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  <a:t>но внутри каждого из этапов идёт движение по циклу </a:t>
            </a:r>
            <a:r>
              <a:rPr lang="en-US" sz="1400" dirty="0">
                <a:latin typeface="Calibri" panose="020F0502020204030204" pitchFamily="34" charset="0"/>
                <a:ea typeface="Calibri"/>
                <a:cs typeface="Calibri"/>
              </a:rPr>
              <a:t>Agile</a:t>
            </a:r>
            <a: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  <a:t>: клиент может гибко уточнять функционал, оставаясь в рамках сроков и бюджета.</a:t>
            </a:r>
            <a:endParaRPr sz="1400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802186578" name="TextBox 802186577"/>
          <p:cNvSpPr txBox="1"/>
          <p:nvPr/>
        </p:nvSpPr>
        <p:spPr bwMode="auto">
          <a:xfrm>
            <a:off x="3541747" y="732152"/>
            <a:ext cx="184731" cy="374013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C1F1F62A-E0E7-A9F4-A68F-21A57763733C}"/>
              </a:ext>
            </a:extLst>
          </p:cNvPr>
          <p:cNvSpPr txBox="1"/>
          <p:nvPr/>
        </p:nvSpPr>
        <p:spPr bwMode="auto">
          <a:xfrm>
            <a:off x="356133" y="1346400"/>
            <a:ext cx="5329238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Обеспечивает скорость, простоту, легкость внедрения.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 bwMode="auto">
          <a:xfrm>
            <a:off x="334962" y="709200"/>
            <a:ext cx="11523509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Экспертиза</a:t>
            </a:r>
            <a:r>
              <a:rPr lang="en-US" dirty="0"/>
              <a:t> </a:t>
            </a:r>
            <a:r>
              <a:rPr lang="ru-RU" dirty="0"/>
              <a:t>партнёров</a:t>
            </a:r>
            <a:endParaRPr dirty="0"/>
          </a:p>
        </p:txBody>
      </p:sp>
      <p:sp>
        <p:nvSpPr>
          <p:cNvPr id="12" name="Rectangle 5"/>
          <p:cNvSpPr/>
          <p:nvPr/>
        </p:nvSpPr>
        <p:spPr bwMode="auto">
          <a:xfrm>
            <a:off x="334963" y="1929562"/>
            <a:ext cx="11523509" cy="95410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  <a:t>Разработка бизнес-приложений, четко отвечающих потребностям компании, не возможна без глубокой отраслевой экспертизы.</a:t>
            </a:r>
            <a:b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</a:br>
            <a:br>
              <a:rPr lang="ru-RU" sz="1400" dirty="0">
                <a:latin typeface="Calibri" panose="020F0502020204030204" pitchFamily="34" charset="0"/>
                <a:ea typeface="Calibri"/>
                <a:cs typeface="Calibri"/>
              </a:rPr>
            </a:b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Партнёрская сеть Comindware объединяет профессиональных методологических, технологических, стратегических партнёров и партнёров-интеграторов, обладающих многолетним опытом как в конкретных предметных областях, так и в инструментах для реализации проектов.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3" name="Picture 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V="1">
            <a:off x="8714840" y="3557500"/>
            <a:ext cx="487679" cy="410519"/>
          </a:xfrm>
          <a:prstGeom prst="rect">
            <a:avLst/>
          </a:prstGeom>
        </p:spPr>
      </p:pic>
      <p:sp>
        <p:nvSpPr>
          <p:cNvPr id="11" name="TextBox 22"/>
          <p:cNvSpPr txBox="1"/>
          <p:nvPr/>
        </p:nvSpPr>
        <p:spPr bwMode="auto">
          <a:xfrm>
            <a:off x="8472488" y="3557500"/>
            <a:ext cx="5580828" cy="718402"/>
          </a:xfrm>
          <a:prstGeom prst="rect">
            <a:avLst/>
          </a:prstGeom>
          <a:noFill/>
          <a:ln w="1269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000" dirty="0" err="1">
                <a:latin typeface="Calibri" panose="020F0502020204030204" pitchFamily="34" charset="0"/>
                <a:cs typeface="Calibri"/>
              </a:rPr>
              <a:t>и</a:t>
            </a:r>
            <a:r>
              <a:rPr sz="2000" dirty="0">
                <a:latin typeface="Calibri" panose="020F0502020204030204" pitchFamily="34" charset="0"/>
                <a:cs typeface="Calibri"/>
              </a:rPr>
              <a:t> </a:t>
            </a:r>
            <a:r>
              <a:rPr lang="ru-RU" sz="2000" dirty="0">
                <a:latin typeface="Calibri" panose="020F0502020204030204" pitchFamily="34" charset="0"/>
                <a:cs typeface="Calibri"/>
              </a:rPr>
              <a:t>40+ других партнеров</a:t>
            </a:r>
            <a:endParaRPr lang="en-US" sz="2000" dirty="0">
              <a:latin typeface="Calibri" panose="020F0502020204030204" pitchFamily="34" charset="0"/>
              <a:cs typeface="Calibri"/>
            </a:endParaRPr>
          </a:p>
          <a:p>
            <a:pPr>
              <a:defRPr/>
            </a:pPr>
            <a:r>
              <a:rPr lang="ru-RU" sz="2000" dirty="0">
                <a:latin typeface="Calibri" panose="020F0502020204030204" pitchFamily="34" charset="0"/>
                <a:cs typeface="Calibri"/>
              </a:rPr>
              <a:t>и интеграторов</a:t>
            </a:r>
            <a:endParaRPr sz="2000" dirty="0"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B5149BB5-0496-FCA7-3A48-5B9ACE4D6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150404" y="5387112"/>
            <a:ext cx="1601358" cy="8006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AB8B7F-0BA3-120F-2977-013DC27380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2758" y="5386274"/>
            <a:ext cx="1612800" cy="806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707036-9CFD-77CF-63F8-D0F9F88355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11924" y="5384252"/>
            <a:ext cx="1612800" cy="806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30909F7-1D70-10A9-96D3-24848D355B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72341" y="5394375"/>
            <a:ext cx="1612800" cy="80640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334962" y="4407637"/>
            <a:ext cx="1601358" cy="800679"/>
          </a:xfrm>
          <a:prstGeom prst="rect">
            <a:avLst/>
          </a:prstGeom>
        </p:spPr>
      </p:pic>
      <p:pic>
        <p:nvPicPr>
          <p:cNvPr id="4" name="Picture 6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2273443" y="4444156"/>
            <a:ext cx="1601358" cy="800679"/>
          </a:xfrm>
          <a:prstGeom prst="rect">
            <a:avLst/>
          </a:prstGeom>
        </p:spPr>
      </p:pic>
      <p:pic>
        <p:nvPicPr>
          <p:cNvPr id="5" name="Picture 8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344200" y="3429000"/>
            <a:ext cx="1601358" cy="800679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4211924" y="4444156"/>
            <a:ext cx="1601358" cy="800679"/>
          </a:xfrm>
          <a:prstGeom prst="rect">
            <a:avLst/>
          </a:prstGeom>
        </p:spPr>
      </p:pic>
      <p:pic>
        <p:nvPicPr>
          <p:cNvPr id="7" name="Picture 12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6150404" y="3429000"/>
            <a:ext cx="1601358" cy="800679"/>
          </a:xfrm>
          <a:prstGeom prst="rect">
            <a:avLst/>
          </a:prstGeom>
        </p:spPr>
      </p:pic>
      <p:pic>
        <p:nvPicPr>
          <p:cNvPr id="8" name="Picture 14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>
            <a:off x="2279150" y="3429000"/>
            <a:ext cx="1601358" cy="800679"/>
          </a:xfrm>
          <a:prstGeom prst="rect">
            <a:avLst/>
          </a:prstGeom>
        </p:spPr>
      </p:pic>
      <p:pic>
        <p:nvPicPr>
          <p:cNvPr id="10" name="Picture 16"/>
          <p:cNvPicPr>
            <a:picLocks noChangeAspect="1"/>
          </p:cNvPicPr>
          <p:nvPr/>
        </p:nvPicPr>
        <p:blipFill>
          <a:blip r:embed="rId14"/>
          <a:stretch/>
        </p:blipFill>
        <p:spPr bwMode="auto">
          <a:xfrm>
            <a:off x="4193230" y="3429000"/>
            <a:ext cx="1601358" cy="8006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565E29-BC2B-6D3C-9811-CC270E16C0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50404" y="4444156"/>
            <a:ext cx="1612800" cy="80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2514" y="333376"/>
            <a:ext cx="7534524" cy="56970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334963" y="709200"/>
            <a:ext cx="11704711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Экспертиза клиента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12" name="Rectangle 5"/>
          <p:cNvSpPr/>
          <p:nvPr/>
        </p:nvSpPr>
        <p:spPr bwMode="auto">
          <a:xfrm>
            <a:off x="334964" y="1916113"/>
            <a:ext cx="3516600" cy="2462213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Конфиденциальная информация, чувствительные данные, коммерческая тайна, конкурентные преимущества — эффективно работать с этими данными может только внутренняя команда.</a:t>
            </a:r>
            <a:b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</a:br>
            <a:b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</a:b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Программа обучения </a:t>
            </a:r>
            <a:r>
              <a:rPr lang="ru-RU" sz="1400" u="none" strike="noStrike" cap="none" spc="0" dirty="0" err="1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Comindware</a:t>
            </a:r>
            <a:r>
              <a:rPr lang="ru-RU" sz="1400" u="none" strike="noStrike" cap="none" spc="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/>
              </a:rPr>
              <a:t> позволяет освоить все необходимые компетенции, от проработки требований до настройки правил на формах, для самостоятельного создания бизнес-приложений.</a:t>
            </a:r>
            <a:endParaRPr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5" name="Rectangle 5"/>
          <p:cNvSpPr/>
          <p:nvPr/>
        </p:nvSpPr>
        <p:spPr bwMode="auto">
          <a:xfrm>
            <a:off x="8896751" y="6283107"/>
            <a:ext cx="2731687" cy="246221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r">
              <a:defRPr/>
            </a:pPr>
            <a:r>
              <a:rPr lang="ru-RU" sz="1000" i="1" u="none" strike="noStrike" cap="none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/>
                <a:cs typeface="Calibri"/>
              </a:rPr>
              <a:t>* Схема носит иллюстративный характер</a:t>
            </a:r>
            <a:endParaRPr sz="1000" i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45C38-79F7-41E4-9848-F0E7DACF0E48}"/>
              </a:ext>
            </a:extLst>
          </p:cNvPr>
          <p:cNvSpPr txBox="1"/>
          <p:nvPr/>
        </p:nvSpPr>
        <p:spPr>
          <a:xfrm>
            <a:off x="334964" y="4963247"/>
            <a:ext cx="3421062" cy="1708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ru-RU" sz="1050" b="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«Обучение на платформе Comindware стало важным шагом для нашей команды, и мы уверены, что полученные знания и навыки будут способствовать повышению нашей продуктивности и эффективности работы. Мы благодарны всем организаторам и преподавателям за качественное обучение и поддержку!»</a:t>
            </a:r>
          </a:p>
          <a:p>
            <a:endParaRPr lang="ru-RU" sz="105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105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Анастасия </a:t>
            </a:r>
            <a:r>
              <a:rPr lang="ru-RU" sz="1050" b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Бурякова</a:t>
            </a:r>
            <a:r>
              <a:rPr lang="ru-RU" sz="105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руководитель проектов цифровой трансформации ФГБУ </a:t>
            </a:r>
            <a:r>
              <a:rPr lang="ru-RU" sz="1050" b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РосНИИВХ</a:t>
            </a:r>
            <a:endParaRPr lang="ru-RU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E50BCB6-4671-6D51-1E2A-FB4198E976E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341988" name="TextBox 571000673">
            <a:extLst>
              <a:ext uri="{FF2B5EF4-FFF2-40B4-BE49-F238E27FC236}">
                <a16:creationId xmlns:a16="http://schemas.microsoft.com/office/drawing/2014/main" id="{24B290BA-2CD0-F2B5-60CB-AFB1ACAA1E00}"/>
              </a:ext>
            </a:extLst>
          </p:cNvPr>
          <p:cNvSpPr txBox="1"/>
          <p:nvPr/>
        </p:nvSpPr>
        <p:spPr bwMode="auto">
          <a:xfrm>
            <a:off x="4497112" y="5214640"/>
            <a:ext cx="2963889" cy="374013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DE9BCC-2B81-2FB7-BEB7-5F377A39BDD9}"/>
              </a:ext>
            </a:extLst>
          </p:cNvPr>
          <p:cNvSpPr txBox="1"/>
          <p:nvPr/>
        </p:nvSpPr>
        <p:spPr>
          <a:xfrm>
            <a:off x="334963" y="709200"/>
            <a:ext cx="10549060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</a:lstStyle>
          <a:p>
            <a:r>
              <a:rPr lang="ru-RU" dirty="0"/>
              <a:t>Модели лицензирования и стоимость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76DBDAC0-9AD4-4126-9242-809EE2AB5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510" y="1659567"/>
            <a:ext cx="8658131" cy="491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2238C6C0-E044-468F-8610-E5550FDAB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96" y="3583693"/>
            <a:ext cx="2507033" cy="398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45000" rIns="90000" bIns="45000" anchor="b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fontAlgn="base" hangingPunct="0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fontAlgn="base" hangingPunct="0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fontAlgn="base" hangingPunct="0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fontAlgn="base" hangingPunct="0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marL="15875" algn="ctr">
              <a:lnSpc>
                <a:spcPct val="100000"/>
              </a:lnSpc>
            </a:pPr>
            <a:r>
              <a:rPr lang="ru-RU" altLang="ru-RU" sz="2000" dirty="0">
                <a:cs typeface="Calibri" panose="020F0502020204030204" pitchFamily="34" charset="0"/>
              </a:rPr>
              <a:t>от 499 ₽ в месяц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2AFD161F-360B-4E9A-AB57-51B5B80FC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067" y="3982348"/>
            <a:ext cx="1745817" cy="306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45000" rIns="90000" bIns="4500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fontAlgn="base" hangingPunct="0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fontAlgn="base" hangingPunct="0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fontAlgn="base" hangingPunct="0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fontAlgn="base" hangingPunct="0">
              <a:lnSpc>
                <a:spcPct val="8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9728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ru-RU" altLang="ru-RU" sz="1400" dirty="0">
                <a:cs typeface="Calibri" panose="020F0502020204030204" pitchFamily="34" charset="0"/>
              </a:rPr>
              <a:t>или 5 990 ₽ в год</a:t>
            </a:r>
          </a:p>
        </p:txBody>
      </p:sp>
    </p:spTree>
    <p:extLst>
      <p:ext uri="{BB962C8B-B14F-4D97-AF65-F5344CB8AC3E}">
        <p14:creationId xmlns:p14="http://schemas.microsoft.com/office/powerpoint/2010/main" val="594669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E50BCB6-4671-6D51-1E2A-FB4198E976E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341988" name="TextBox 571000673">
            <a:extLst>
              <a:ext uri="{FF2B5EF4-FFF2-40B4-BE49-F238E27FC236}">
                <a16:creationId xmlns:a16="http://schemas.microsoft.com/office/drawing/2014/main" id="{24B290BA-2CD0-F2B5-60CB-AFB1ACAA1E00}"/>
              </a:ext>
            </a:extLst>
          </p:cNvPr>
          <p:cNvSpPr txBox="1"/>
          <p:nvPr/>
        </p:nvSpPr>
        <p:spPr bwMode="auto">
          <a:xfrm>
            <a:off x="4497112" y="5214640"/>
            <a:ext cx="2963889" cy="374013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4BBB64-4A16-9A5F-8281-5CD577CB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709200"/>
            <a:ext cx="9334051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</a:pPr>
            <a:r>
              <a:rPr lang="ru-RU" altLang="ru-RU" sz="2800" dirty="0">
                <a:latin typeface="Calibri" panose="020F0502020204030204" pitchFamily="34" charset="0"/>
                <a:cs typeface="Calibri"/>
              </a:rPr>
              <a:t>Отличные результаты, подтвержденные клиентами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C6D6DBA-16F0-1D59-1A5F-3E221A4A2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233" y="1922920"/>
            <a:ext cx="7509669" cy="3877985"/>
          </a:xfrm>
          <a:prstGeom prst="rect">
            <a:avLst/>
          </a:prstGeom>
          <a:grp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buClr>
                <a:srgbClr val="3698D4"/>
              </a:buClr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«Выстроили работу отдела продаж именно так, как нам нужно»</a:t>
            </a:r>
          </a:p>
          <a:p>
            <a:pPr>
              <a:spcAft>
                <a:spcPts val="1800"/>
              </a:spcAft>
              <a:buClr>
                <a:srgbClr val="3698D4"/>
              </a:buClr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«Запустили систему за квартал, а не за год»</a:t>
            </a:r>
          </a:p>
          <a:p>
            <a:pPr>
              <a:spcAft>
                <a:spcPts val="1800"/>
              </a:spcAft>
              <a:buClr>
                <a:srgbClr val="3698D4"/>
              </a:buClr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«Никаких простоев при обновлении системы»</a:t>
            </a:r>
          </a:p>
          <a:p>
            <a:pPr>
              <a:spcAft>
                <a:spcPts val="1800"/>
              </a:spcAft>
              <a:buClr>
                <a:srgbClr val="3698D4"/>
              </a:buClr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«Все отделы работают в одной связке»</a:t>
            </a:r>
          </a:p>
          <a:p>
            <a:pPr>
              <a:spcAft>
                <a:spcPts val="1800"/>
              </a:spcAft>
              <a:buClr>
                <a:srgbClr val="3698D4"/>
              </a:buClr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«Видим и контролируем каждый этап сделки»</a:t>
            </a:r>
          </a:p>
          <a:p>
            <a:pPr>
              <a:spcAft>
                <a:spcPts val="1800"/>
              </a:spcAft>
              <a:buClr>
                <a:srgbClr val="3698D4"/>
              </a:buClr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«Автоматизировали продажи, закупки и ЭДО в едином контуре»</a:t>
            </a:r>
          </a:p>
          <a:p>
            <a:pPr>
              <a:spcAft>
                <a:spcPts val="1800"/>
              </a:spcAft>
              <a:buClr>
                <a:srgbClr val="3698D4"/>
              </a:buClr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«Настройками системы занимаются бизнес-аналитики, а не ИТ-отдел»</a:t>
            </a:r>
          </a:p>
          <a:p>
            <a:pPr>
              <a:spcAft>
                <a:spcPts val="1800"/>
              </a:spcAft>
              <a:buClr>
                <a:srgbClr val="3698D4"/>
              </a:buClr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«Не привязаны к вендору – выбрали своего интегратора»</a:t>
            </a:r>
          </a:p>
          <a:p>
            <a:pPr>
              <a:spcAft>
                <a:spcPts val="1800"/>
              </a:spcAft>
              <a:buClr>
                <a:srgbClr val="3698D4"/>
              </a:buClr>
            </a:pPr>
            <a:r>
              <a:rPr lang="ru-RU" sz="1400" dirty="0">
                <a:latin typeface="Calibri" panose="020F0502020204030204" pitchFamily="34" charset="0"/>
                <a:cs typeface="Calibri"/>
              </a:rPr>
              <a:t>«Можем сами развивать систему»</a:t>
            </a:r>
            <a:endParaRPr lang="ru-RU" sz="1400" dirty="0">
              <a:latin typeface="Calibri"/>
              <a:cs typeface="Calibri"/>
            </a:endParaRPr>
          </a:p>
        </p:txBody>
      </p:sp>
      <p:pic>
        <p:nvPicPr>
          <p:cNvPr id="12" name="Picture 37">
            <a:extLst>
              <a:ext uri="{FF2B5EF4-FFF2-40B4-BE49-F238E27FC236}">
                <a16:creationId xmlns:a16="http://schemas.microsoft.com/office/drawing/2014/main" id="{B54FEBE3-7945-47EC-82F3-D4D4416B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4963" y="1880462"/>
            <a:ext cx="720000" cy="360000"/>
          </a:xfrm>
          <a:prstGeom prst="rect">
            <a:avLst/>
          </a:prstGeom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7C4D3518-1D92-4A77-8102-ECAB93D72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4963" y="2325269"/>
            <a:ext cx="720000" cy="360000"/>
          </a:xfrm>
          <a:prstGeom prst="rect">
            <a:avLst/>
          </a:prstGeom>
        </p:spPr>
      </p:pic>
      <p:pic>
        <p:nvPicPr>
          <p:cNvPr id="14" name="Picture 11">
            <a:extLst>
              <a:ext uri="{FF2B5EF4-FFF2-40B4-BE49-F238E27FC236}">
                <a16:creationId xmlns:a16="http://schemas.microsoft.com/office/drawing/2014/main" id="{343CE1B8-A90A-426B-B00E-EA4AF750D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34963" y="2770076"/>
            <a:ext cx="720000" cy="360000"/>
          </a:xfrm>
          <a:prstGeom prst="rect">
            <a:avLst/>
          </a:prstGeom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688AC646-1685-4297-84D0-27CCC6683D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34963" y="3214883"/>
            <a:ext cx="720000" cy="360000"/>
          </a:xfrm>
          <a:prstGeom prst="rect">
            <a:avLst/>
          </a:prstGeom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A96EA156-EC33-4C8C-98CF-3586ACA6F8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334963" y="4104497"/>
            <a:ext cx="720000" cy="360001"/>
          </a:xfrm>
          <a:prstGeom prst="rect">
            <a:avLst/>
          </a:prstGeom>
        </p:spPr>
      </p:pic>
      <p:pic>
        <p:nvPicPr>
          <p:cNvPr id="17" name="Picture 18">
            <a:extLst>
              <a:ext uri="{FF2B5EF4-FFF2-40B4-BE49-F238E27FC236}">
                <a16:creationId xmlns:a16="http://schemas.microsoft.com/office/drawing/2014/main" id="{75254D8F-EFFB-4C77-A2C4-9F1B8B80D6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334963" y="3659690"/>
            <a:ext cx="720000" cy="360000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CD551F62-B060-424E-96BA-F802C99E64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334963" y="5438917"/>
            <a:ext cx="720000" cy="360001"/>
          </a:xfrm>
          <a:prstGeom prst="rect">
            <a:avLst/>
          </a:prstGeom>
        </p:spPr>
      </p:pic>
      <p:pic>
        <p:nvPicPr>
          <p:cNvPr id="19" name="Picture 3">
            <a:extLst>
              <a:ext uri="{FF2B5EF4-FFF2-40B4-BE49-F238E27FC236}">
                <a16:creationId xmlns:a16="http://schemas.microsoft.com/office/drawing/2014/main" id="{1CB4CB56-6046-451C-961F-B8685C0489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334963" y="4549305"/>
            <a:ext cx="720000" cy="360000"/>
          </a:xfrm>
          <a:prstGeom prst="rect">
            <a:avLst/>
          </a:prstGeom>
        </p:spPr>
      </p:pic>
      <p:pic>
        <p:nvPicPr>
          <p:cNvPr id="20" name="Picture 21">
            <a:extLst>
              <a:ext uri="{FF2B5EF4-FFF2-40B4-BE49-F238E27FC236}">
                <a16:creationId xmlns:a16="http://schemas.microsoft.com/office/drawing/2014/main" id="{03C02060-0C60-4CF7-AA20-C6953132F3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334963" y="4994112"/>
            <a:ext cx="720000" cy="36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EA5F44-FB66-C65F-B5F1-35CF76CA051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35345" y="1418154"/>
            <a:ext cx="4021692" cy="4021692"/>
          </a:xfrm>
          <a:prstGeom prst="rect">
            <a:avLst/>
          </a:prstGeom>
        </p:spPr>
      </p:pic>
      <p:cxnSp>
        <p:nvCxnSpPr>
          <p:cNvPr id="21" name="Straight Connector 3">
            <a:extLst>
              <a:ext uri="{FF2B5EF4-FFF2-40B4-BE49-F238E27FC236}">
                <a16:creationId xmlns:a16="http://schemas.microsoft.com/office/drawing/2014/main" id="{4646B045-5B52-42A6-B560-E7230D879BA8}"/>
              </a:ext>
            </a:extLst>
          </p:cNvPr>
          <p:cNvCxnSpPr/>
          <p:nvPr/>
        </p:nvCxnSpPr>
        <p:spPr bwMode="auto">
          <a:xfrm>
            <a:off x="1423764" y="1730609"/>
            <a:ext cx="0" cy="4289702"/>
          </a:xfrm>
          <a:prstGeom prst="line">
            <a:avLst/>
          </a:prstGeom>
          <a:ln>
            <a:gradFill flip="none" rotWithShape="1">
              <a:gsLst>
                <a:gs pos="50000">
                  <a:schemeClr val="tx1">
                    <a:alpha val="39900"/>
                  </a:scheme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002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E50BCB6-4671-6D51-1E2A-FB4198E976E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341988" name="TextBox 571000673">
            <a:extLst>
              <a:ext uri="{FF2B5EF4-FFF2-40B4-BE49-F238E27FC236}">
                <a16:creationId xmlns:a16="http://schemas.microsoft.com/office/drawing/2014/main" id="{24B290BA-2CD0-F2B5-60CB-AFB1ACAA1E00}"/>
              </a:ext>
            </a:extLst>
          </p:cNvPr>
          <p:cNvSpPr txBox="1"/>
          <p:nvPr/>
        </p:nvSpPr>
        <p:spPr bwMode="auto">
          <a:xfrm>
            <a:off x="4497112" y="5214640"/>
            <a:ext cx="2963889" cy="374013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4BBB64-4A16-9A5F-8281-5CD577CB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709200"/>
            <a:ext cx="9334051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</a:pPr>
            <a:r>
              <a:rPr lang="ru-RU" altLang="ru-RU" sz="2800" dirty="0">
                <a:latin typeface="Calibri" panose="020F0502020204030204" pitchFamily="34" charset="0"/>
                <a:cs typeface="Calibri"/>
              </a:rPr>
              <a:t>Наши дальнейшие шаги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3E4835-29E7-4D14-9731-912B76D6A16F}"/>
              </a:ext>
            </a:extLst>
          </p:cNvPr>
          <p:cNvSpPr txBox="1"/>
          <p:nvPr/>
        </p:nvSpPr>
        <p:spPr>
          <a:xfrm>
            <a:off x="334964" y="2302375"/>
            <a:ext cx="3421062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lang="ru-RU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Определяем сроки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917059-FAA4-43C2-A043-CDB67DA1689D}"/>
              </a:ext>
            </a:extLst>
          </p:cNvPr>
          <p:cNvSpPr txBox="1"/>
          <p:nvPr/>
        </p:nvSpPr>
        <p:spPr bwMode="auto">
          <a:xfrm>
            <a:off x="4454302" y="2261135"/>
            <a:ext cx="3297461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lang="ru-RU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Предпроектное обследование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E8300C-4E91-4532-88E5-AABE1F6240EE}"/>
              </a:ext>
            </a:extLst>
          </p:cNvPr>
          <p:cNvSpPr txBox="1"/>
          <p:nvPr/>
        </p:nvSpPr>
        <p:spPr bwMode="auto">
          <a:xfrm>
            <a:off x="8472487" y="2261135"/>
            <a:ext cx="3384551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lang="ru-RU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Коммерческое предложение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AB27BA-A62D-4B38-9329-61D5B6FD5CBD}"/>
              </a:ext>
            </a:extLst>
          </p:cNvPr>
          <p:cNvSpPr txBox="1"/>
          <p:nvPr/>
        </p:nvSpPr>
        <p:spPr>
          <a:xfrm>
            <a:off x="334963" y="5280876"/>
            <a:ext cx="3421061" cy="5232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lang="ru-RU" sz="1400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К какому сроку важно получить работающее решение?</a:t>
            </a:r>
            <a:endParaRPr lang="ru-RU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BC1F5D-C4E0-4FAB-90E6-BA0F1D43AE03}"/>
              </a:ext>
            </a:extLst>
          </p:cNvPr>
          <p:cNvSpPr txBox="1"/>
          <p:nvPr/>
        </p:nvSpPr>
        <p:spPr bwMode="auto">
          <a:xfrm>
            <a:off x="4440238" y="5280876"/>
            <a:ext cx="3297460" cy="5232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lang="ru-RU" sz="1400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Уточнение деталей проекта и требований, знакомство с командой</a:t>
            </a:r>
            <a:endParaRPr lang="ru-RU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FC982B-B024-4FF4-B4B1-FF68F65777D6}"/>
              </a:ext>
            </a:extLst>
          </p:cNvPr>
          <p:cNvSpPr txBox="1"/>
          <p:nvPr/>
        </p:nvSpPr>
        <p:spPr bwMode="auto">
          <a:xfrm>
            <a:off x="8488362" y="5280876"/>
            <a:ext cx="3368675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lang="ru-RU" sz="1400" dirty="0">
                <a:solidFill>
                  <a:srgbClr val="0F11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</a:t>
            </a:r>
            <a:r>
              <a:rPr lang="ru-RU" sz="1400" dirty="0">
                <a:solidFill>
                  <a:srgbClr val="0F111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арианты реализации проекта</a:t>
            </a:r>
            <a:endParaRPr lang="ru-RU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415A088-844E-0F73-762C-3032FC0FB79C}"/>
              </a:ext>
            </a:extLst>
          </p:cNvPr>
          <p:cNvSpPr/>
          <p:nvPr/>
        </p:nvSpPr>
        <p:spPr>
          <a:xfrm>
            <a:off x="1192717" y="1711036"/>
            <a:ext cx="1715510" cy="20507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ПРЕДВАРИТЕЛЬНЫЙ ЭТАП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0632281-1D31-C77F-61B9-31C692D379DC}"/>
              </a:ext>
            </a:extLst>
          </p:cNvPr>
          <p:cNvSpPr/>
          <p:nvPr/>
        </p:nvSpPr>
        <p:spPr>
          <a:xfrm>
            <a:off x="5775004" y="1711036"/>
            <a:ext cx="627928" cy="20507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9C6B164-5B29-AC1D-E253-B144AFA23E03}"/>
              </a:ext>
            </a:extLst>
          </p:cNvPr>
          <p:cNvSpPr/>
          <p:nvPr/>
        </p:nvSpPr>
        <p:spPr>
          <a:xfrm>
            <a:off x="9849996" y="1711036"/>
            <a:ext cx="627928" cy="20507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ШАГ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B29BEC-433E-6156-AAC8-7154ACC9D8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647" y="2798618"/>
            <a:ext cx="3376627" cy="2250205"/>
          </a:xfrm>
          <a:prstGeom prst="roundRect">
            <a:avLst>
              <a:gd name="adj" fmla="val 5277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6D2F96-7472-B98C-904C-7515A6F74B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2" r="2378"/>
          <a:stretch>
            <a:fillRect/>
          </a:stretch>
        </p:blipFill>
        <p:spPr>
          <a:xfrm>
            <a:off x="4440239" y="2798618"/>
            <a:ext cx="3297460" cy="2250205"/>
          </a:xfrm>
          <a:prstGeom prst="roundRect">
            <a:avLst>
              <a:gd name="adj" fmla="val 5277"/>
            </a:avLst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54DFF9-4C5A-7D13-4A1A-E796352699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39" t="17413" r="8164" b="3630"/>
          <a:stretch>
            <a:fillRect/>
          </a:stretch>
        </p:blipFill>
        <p:spPr>
          <a:xfrm>
            <a:off x="334963" y="2798618"/>
            <a:ext cx="3421062" cy="2250205"/>
          </a:xfrm>
          <a:prstGeom prst="roundRect">
            <a:avLst>
              <a:gd name="adj" fmla="val 5277"/>
            </a:avLst>
          </a:prstGeom>
        </p:spPr>
      </p:pic>
    </p:spTree>
    <p:extLst>
      <p:ext uri="{BB962C8B-B14F-4D97-AF65-F5344CB8AC3E}">
        <p14:creationId xmlns:p14="http://schemas.microsoft.com/office/powerpoint/2010/main" val="1380266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E50BCB6-4671-6D51-1E2A-FB4198E976E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341988" name="TextBox 571000673">
            <a:extLst>
              <a:ext uri="{FF2B5EF4-FFF2-40B4-BE49-F238E27FC236}">
                <a16:creationId xmlns:a16="http://schemas.microsoft.com/office/drawing/2014/main" id="{24B290BA-2CD0-F2B5-60CB-AFB1ACAA1E00}"/>
              </a:ext>
            </a:extLst>
          </p:cNvPr>
          <p:cNvSpPr txBox="1"/>
          <p:nvPr/>
        </p:nvSpPr>
        <p:spPr bwMode="auto">
          <a:xfrm>
            <a:off x="3314089" y="5214640"/>
            <a:ext cx="2963889" cy="374013"/>
          </a:xfrm>
          <a:prstGeom prst="rect">
            <a:avLst/>
          </a:prstGeom>
          <a:noFill/>
        </p:spPr>
        <p:txBody>
          <a:bodyPr vertOverflow="overflow" horzOverflow="overflow" vert="horz" wrap="square" lIns="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Google Shape;483;p19">
            <a:extLst>
              <a:ext uri="{FF2B5EF4-FFF2-40B4-BE49-F238E27FC236}">
                <a16:creationId xmlns:a16="http://schemas.microsoft.com/office/drawing/2014/main" id="{FDC4B09A-6402-461E-9B45-C4F513F74A50}"/>
              </a:ext>
            </a:extLst>
          </p:cNvPr>
          <p:cNvSpPr txBox="1"/>
          <p:nvPr/>
        </p:nvSpPr>
        <p:spPr bwMode="auto">
          <a:xfrm>
            <a:off x="334964" y="709200"/>
            <a:ext cx="8888854" cy="55553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lnSpc>
                <a:spcPct val="113999"/>
              </a:lnSpc>
              <a:spcAft>
                <a:spcPts val="1198"/>
              </a:spcAft>
              <a:buClr>
                <a:srgbClr val="409ED6"/>
              </a:buClr>
              <a:defRPr sz="2800">
                <a:latin typeface="Calibri" panose="020F0502020204030204" pitchFamily="34" charset="0"/>
                <a:ea typeface="PT Sans Regular"/>
                <a:cs typeface="Calibri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Поделитесь впечатлениями</a:t>
            </a:r>
          </a:p>
        </p:txBody>
      </p:sp>
      <p:sp>
        <p:nvSpPr>
          <p:cNvPr id="15" name="TextBox 23">
            <a:extLst>
              <a:ext uri="{FF2B5EF4-FFF2-40B4-BE49-F238E27FC236}">
                <a16:creationId xmlns:a16="http://schemas.microsoft.com/office/drawing/2014/main" id="{28A3688C-C9AB-4EC6-B0B7-DD51745C3936}"/>
              </a:ext>
            </a:extLst>
          </p:cNvPr>
          <p:cNvSpPr txBox="1"/>
          <p:nvPr/>
        </p:nvSpPr>
        <p:spPr bwMode="auto">
          <a:xfrm>
            <a:off x="910962" y="1917256"/>
            <a:ext cx="8580030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Впечатления от решения</a:t>
            </a:r>
          </a:p>
        </p:txBody>
      </p:sp>
      <p:pic>
        <p:nvPicPr>
          <p:cNvPr id="16" name="Рисунок 15" descr="Лампочка">
            <a:extLst>
              <a:ext uri="{FF2B5EF4-FFF2-40B4-BE49-F238E27FC236}">
                <a16:creationId xmlns:a16="http://schemas.microsoft.com/office/drawing/2014/main" id="{8078B57B-750F-4F4D-8F3E-EADB4A4D3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334962" y="1891144"/>
            <a:ext cx="360000" cy="360000"/>
          </a:xfrm>
          <a:prstGeom prst="rect">
            <a:avLst/>
          </a:prstGeom>
        </p:spPr>
      </p:pic>
      <p:pic>
        <p:nvPicPr>
          <p:cNvPr id="17" name="Рисунок 16" descr="Голова с шестеренками">
            <a:extLst>
              <a:ext uri="{FF2B5EF4-FFF2-40B4-BE49-F238E27FC236}">
                <a16:creationId xmlns:a16="http://schemas.microsoft.com/office/drawing/2014/main" id="{8A8B4379-C1FF-46B8-B943-174932EA6E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auto">
          <a:xfrm>
            <a:off x="334962" y="3428199"/>
            <a:ext cx="360000" cy="360000"/>
          </a:xfrm>
          <a:prstGeom prst="rect">
            <a:avLst/>
          </a:prstGeom>
        </p:spPr>
      </p:pic>
      <p:pic>
        <p:nvPicPr>
          <p:cNvPr id="18" name="Рисунок 17" descr="Контрольный список (справа налево)">
            <a:extLst>
              <a:ext uri="{FF2B5EF4-FFF2-40B4-BE49-F238E27FC236}">
                <a16:creationId xmlns:a16="http://schemas.microsoft.com/office/drawing/2014/main" id="{7C51C692-6057-44DE-908E-B25DC0033C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auto">
          <a:xfrm>
            <a:off x="334962" y="4518522"/>
            <a:ext cx="360000" cy="360000"/>
          </a:xfrm>
          <a:prstGeom prst="rect">
            <a:avLst/>
          </a:prstGeom>
        </p:spPr>
      </p:pic>
      <p:sp>
        <p:nvSpPr>
          <p:cNvPr id="19" name="TextBox 23">
            <a:extLst>
              <a:ext uri="{FF2B5EF4-FFF2-40B4-BE49-F238E27FC236}">
                <a16:creationId xmlns:a16="http://schemas.microsoft.com/office/drawing/2014/main" id="{23357419-A2E9-4B8E-9572-6589E28BD7CF}"/>
              </a:ext>
            </a:extLst>
          </p:cNvPr>
          <p:cNvSpPr txBox="1"/>
          <p:nvPr/>
        </p:nvSpPr>
        <p:spPr bwMode="auto">
          <a:xfrm>
            <a:off x="910962" y="4544634"/>
            <a:ext cx="8580030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Критерии выбора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A7370795-9C4C-4F80-92D3-82D47872EE8C}"/>
              </a:ext>
            </a:extLst>
          </p:cNvPr>
          <p:cNvSpPr txBox="1"/>
          <p:nvPr/>
        </p:nvSpPr>
        <p:spPr bwMode="auto">
          <a:xfrm>
            <a:off x="910962" y="2289985"/>
            <a:ext cx="8580030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Насколько платформа подходит для решения ваших задач?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6CE67560-3498-47B4-874F-7B2FA1031D6D}"/>
              </a:ext>
            </a:extLst>
          </p:cNvPr>
          <p:cNvSpPr txBox="1"/>
          <p:nvPr/>
        </p:nvSpPr>
        <p:spPr bwMode="auto">
          <a:xfrm>
            <a:off x="910962" y="2666369"/>
            <a:ext cx="7414788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Какой функционал показался вам наиболее полезным и ценным?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2A1B349E-FCF1-4839-B089-5AEB026151A8}"/>
              </a:ext>
            </a:extLst>
          </p:cNvPr>
          <p:cNvSpPr txBox="1"/>
          <p:nvPr/>
        </p:nvSpPr>
        <p:spPr bwMode="auto">
          <a:xfrm>
            <a:off x="910962" y="3454311"/>
            <a:ext cx="7414788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Мнение о нашем подходе</a:t>
            </a: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AB8CE6EB-F638-4FCA-A5B9-86AF08668A58}"/>
              </a:ext>
            </a:extLst>
          </p:cNvPr>
          <p:cNvSpPr txBox="1"/>
          <p:nvPr/>
        </p:nvSpPr>
        <p:spPr bwMode="auto">
          <a:xfrm>
            <a:off x="910962" y="3791866"/>
            <a:ext cx="7414788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Как вам кажется, наша экспертиза будет для вас полезной? </a:t>
            </a:r>
          </a:p>
        </p:txBody>
      </p:sp>
      <p:sp>
        <p:nvSpPr>
          <p:cNvPr id="33" name="TextBox 20">
            <a:extLst>
              <a:ext uri="{FF2B5EF4-FFF2-40B4-BE49-F238E27FC236}">
                <a16:creationId xmlns:a16="http://schemas.microsoft.com/office/drawing/2014/main" id="{42A74A34-2089-499F-A8D5-8C8D2BF71632}"/>
              </a:ext>
            </a:extLst>
          </p:cNvPr>
          <p:cNvSpPr txBox="1"/>
          <p:nvPr/>
        </p:nvSpPr>
        <p:spPr bwMode="auto">
          <a:xfrm>
            <a:off x="910962" y="4917363"/>
            <a:ext cx="7414788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Что для вас важно при выборе платформы?</a:t>
            </a:r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2660EC0B-DD93-47D3-8311-C826C9C1E45B}"/>
              </a:ext>
            </a:extLst>
          </p:cNvPr>
          <p:cNvSpPr txBox="1"/>
          <p:nvPr/>
        </p:nvSpPr>
        <p:spPr bwMode="auto">
          <a:xfrm>
            <a:off x="910962" y="5293747"/>
            <a:ext cx="7414788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Сколько времени вам понадобится для принятия решения?</a:t>
            </a:r>
          </a:p>
        </p:txBody>
      </p:sp>
      <p:sp>
        <p:nvSpPr>
          <p:cNvPr id="35" name="TextBox 27">
            <a:extLst>
              <a:ext uri="{FF2B5EF4-FFF2-40B4-BE49-F238E27FC236}">
                <a16:creationId xmlns:a16="http://schemas.microsoft.com/office/drawing/2014/main" id="{23BC184F-9EFB-4729-8A83-87A29FAA2566}"/>
              </a:ext>
            </a:extLst>
          </p:cNvPr>
          <p:cNvSpPr txBox="1"/>
          <p:nvPr/>
        </p:nvSpPr>
        <p:spPr bwMode="auto">
          <a:xfrm>
            <a:off x="910962" y="3042753"/>
            <a:ext cx="7414788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Остались ли у вас вопросы по возможностям продукта?</a:t>
            </a:r>
          </a:p>
        </p:txBody>
      </p:sp>
      <p:sp>
        <p:nvSpPr>
          <p:cNvPr id="36" name="TextBox 28">
            <a:extLst>
              <a:ext uri="{FF2B5EF4-FFF2-40B4-BE49-F238E27FC236}">
                <a16:creationId xmlns:a16="http://schemas.microsoft.com/office/drawing/2014/main" id="{8998D352-E3A9-49B4-B412-DF517C7D9041}"/>
              </a:ext>
            </a:extLst>
          </p:cNvPr>
          <p:cNvSpPr txBox="1"/>
          <p:nvPr/>
        </p:nvSpPr>
        <p:spPr bwMode="auto">
          <a:xfrm>
            <a:off x="910962" y="5670135"/>
            <a:ext cx="7895048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Что еще мы могли бы сделать, чтобы помочь вам принять обоснованное решение?</a:t>
            </a: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AB8CE6EB-F638-4FCA-A5B9-86AF08668A58}"/>
              </a:ext>
            </a:extLst>
          </p:cNvPr>
          <p:cNvSpPr txBox="1"/>
          <p:nvPr/>
        </p:nvSpPr>
        <p:spPr bwMode="auto">
          <a:xfrm>
            <a:off x="910962" y="4168250"/>
            <a:ext cx="7414788" cy="311432"/>
          </a:xfrm>
          <a:prstGeom prst="rect">
            <a:avLst/>
          </a:prstGeom>
          <a:noFill/>
        </p:spPr>
        <p:txBody>
          <a:bodyPr vert="horz" wrap="square" lIns="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latin typeface="Calibri" panose="020F0502020204030204" pitchFamily="34" charset="0"/>
                <a:cs typeface="Calibri" panose="020F0502020204030204" pitchFamily="34" charset="0"/>
              </a:rPr>
              <a:t>Подходит ли вам наш гибридный подход к внедрению продукта?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6573F83F-EBED-4A55-8492-6012FF0E5BCE}"/>
              </a:ext>
            </a:extLst>
          </p:cNvPr>
          <p:cNvSpPr txBox="1"/>
          <p:nvPr/>
        </p:nvSpPr>
        <p:spPr bwMode="auto">
          <a:xfrm>
            <a:off x="334962" y="6203800"/>
            <a:ext cx="11522076" cy="5539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999"/>
              </a:spcAft>
              <a:defRPr/>
            </a:pPr>
            <a:r>
              <a:rPr lang="ru-RU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Данная презентация и содержащаяся в ней информация представляют собой интеллектуальную собственность компании </a:t>
            </a:r>
            <a:r>
              <a:rPr lang="en-US" sz="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Comindware</a:t>
            </a:r>
            <a:r>
              <a:rPr lang="ru-RU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и защищены законодательством об авторском праве. Она также может быть иным образом защищена другими правовыми нормами. Все права на использование и распространение данной информации предоставляются исключительно уполномоченным лицам Вашей организации. Компания </a:t>
            </a:r>
            <a:r>
              <a:rPr lang="en-US" sz="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Comindware</a:t>
            </a:r>
            <a:r>
              <a:rPr lang="ru-RU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позволяет вышеуказанным уполномоченным лицам печатать, хранить, дублировать и пересылать этот документ для внутреннего использования. Любое раскрытие его содержания третьим лицам без предварительного письменного разрешения компании </a:t>
            </a:r>
            <a:r>
              <a:rPr lang="en-US" sz="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Comindware</a:t>
            </a:r>
            <a:r>
              <a:rPr lang="ru-RU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строго запрещено, равно как и распространение каким-либо способом любой информации, связанной с этим документом, среди неуполномоченных лиц, его подрядчиков или третьих лиц.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Компания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Comindware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не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дает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никаких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гарантий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в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отношении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своих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планов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,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озвученных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в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настоящей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презентации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,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процедур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внедрения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,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инструкций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и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других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деловых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или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технических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указаний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,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изложенных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в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этом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документе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, и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не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несет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ответственности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за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любые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возможные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убытки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,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вызванные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использованием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данной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sz="600" u="non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информации</a:t>
            </a:r>
            <a:r>
              <a:rPr sz="60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.</a:t>
            </a:r>
            <a:r>
              <a:rPr lang="ru-RU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 </a:t>
            </a:r>
            <a:r>
              <a:rPr lang="ru-RU" sz="600" u="none" strike="noStrike" cap="none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PT Sans"/>
                <a:cs typeface="Calibri"/>
              </a:rPr>
              <a:t>Все торговые марки, логотипы, названия продуктов и компаний, которые используются, упоминаются либо цитируются в данной презентации принадлежат их обладателям согласно законам об авторском праве.`</a:t>
            </a:r>
            <a:endParaRPr sz="6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24899A-4D99-AFD4-D48F-63A7A677F5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35345" y="1418154"/>
            <a:ext cx="4021692" cy="402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93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16737</TotalTime>
  <Words>1894</Words>
  <Application>Microsoft Office PowerPoint</Application>
  <DocSecurity>0</DocSecurity>
  <PresentationFormat>Widescreen</PresentationFormat>
  <Paragraphs>261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PT Sans Regular</vt:lpstr>
      <vt:lpstr>Wingdings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Natalya Karmanovskaya</dc:creator>
  <cp:keywords/>
  <dc:description/>
  <cp:lastModifiedBy>Pavel Grebeshkov</cp:lastModifiedBy>
  <cp:revision>424</cp:revision>
  <dcterms:created xsi:type="dcterms:W3CDTF">2024-09-26T08:44:18Z</dcterms:created>
  <dcterms:modified xsi:type="dcterms:W3CDTF">2026-07-08T15:13:26Z</dcterms:modified>
  <cp:category/>
  <dc:identifier/>
  <cp:contentStatus/>
  <dc:language/>
  <cp:version/>
</cp:coreProperties>
</file>